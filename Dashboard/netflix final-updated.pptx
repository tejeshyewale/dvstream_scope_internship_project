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75" r:id="rId10"/>
    <p:sldId id="264" r:id="rId11"/>
    <p:sldId id="265" r:id="rId12"/>
    <p:sldId id="266" r:id="rId13"/>
    <p:sldId id="267" r:id="rId14"/>
    <p:sldId id="277" r:id="rId15"/>
    <p:sldId id="278" r:id="rId16"/>
    <p:sldId id="279" r:id="rId17"/>
    <p:sldId id="280" r:id="rId18"/>
    <p:sldId id="271" r:id="rId19"/>
    <p:sldId id="272" r:id="rId20"/>
    <p:sldId id="273" r:id="rId21"/>
    <p:sldId id="274" r:id="rId22"/>
  </p:sldIdLst>
  <p:sldSz cx="18288000" cy="10287000"/>
  <p:notesSz cx="6858000" cy="9144000"/>
  <p:embeddedFontLst>
    <p:embeddedFont>
      <p:font typeface="Wingdings 2" panose="05020102010507070707" pitchFamily="18" charset="2"/>
      <p:regular r:id="rId24"/>
    </p:embeddedFont>
    <p:embeddedFont>
      <p:font typeface="Play" panose="020B0604020202020204" charset="0"/>
      <p:regular r:id="rId25"/>
    </p:embeddedFont>
    <p:embeddedFont>
      <p:font typeface="Calisto MT" panose="02040603050505030304" pitchFamily="18" charset="0"/>
      <p:regular r:id="rId26"/>
      <p:bold r:id="rId27"/>
      <p:italic r:id="rId28"/>
      <p:boldItalic r:id="rId29"/>
    </p:embeddedFont>
    <p:embeddedFont>
      <p:font typeface="Play Bold" panose="020B0604020202020204" charset="0"/>
      <p:regular r:id="rId30"/>
    </p:embeddedFont>
    <p:embeddedFont>
      <p:font typeface="Calistoga" panose="020B0604020202020204" charset="0"/>
      <p:regular r:id="rId31"/>
    </p:embeddedFont>
    <p:embeddedFont>
      <p:font typeface="Trebuchet MS" panose="020B0603020202020204" pitchFamily="34" charset="0"/>
      <p:regular r:id="rId32"/>
      <p:bold r:id="rId33"/>
      <p:italic r:id="rId34"/>
      <p:boldItalic r:id="rId3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241" autoAdjust="0"/>
    <p:restoredTop sz="95033" autoAdjust="0"/>
  </p:normalViewPr>
  <p:slideViewPr>
    <p:cSldViewPr>
      <p:cViewPr>
        <p:scale>
          <a:sx n="50" d="100"/>
          <a:sy n="50" d="100"/>
        </p:scale>
        <p:origin x="874"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1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646D81-F40E-4011-95E3-CAA6875F726B}" type="datetimeFigureOut">
              <a:rPr lang="en-US" smtClean="0"/>
              <a:t>4/1/2026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E86FA8-669A-4CB0-87D3-1B5E40D78282}" type="slidenum">
              <a:rPr lang="en-US" smtClean="0"/>
              <a:t>‹#›</a:t>
            </a:fld>
            <a:endParaRPr lang="en-US"/>
          </a:p>
        </p:txBody>
      </p:sp>
    </p:spTree>
    <p:extLst>
      <p:ext uri="{BB962C8B-B14F-4D97-AF65-F5344CB8AC3E}">
        <p14:creationId xmlns:p14="http://schemas.microsoft.com/office/powerpoint/2010/main" val="3095675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E86FA8-669A-4CB0-87D3-1B5E40D78282}" type="slidenum">
              <a:rPr lang="en-US" smtClean="0"/>
              <a:t>1</a:t>
            </a:fld>
            <a:endParaRPr lang="en-US"/>
          </a:p>
        </p:txBody>
      </p:sp>
    </p:spTree>
    <p:extLst>
      <p:ext uri="{BB962C8B-B14F-4D97-AF65-F5344CB8AC3E}">
        <p14:creationId xmlns:p14="http://schemas.microsoft.com/office/powerpoint/2010/main" val="1682574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E86FA8-669A-4CB0-87D3-1B5E40D78282}" type="slidenum">
              <a:rPr lang="en-US" smtClean="0"/>
              <a:t>8</a:t>
            </a:fld>
            <a:endParaRPr lang="en-US"/>
          </a:p>
        </p:txBody>
      </p:sp>
    </p:spTree>
    <p:extLst>
      <p:ext uri="{BB962C8B-B14F-4D97-AF65-F5344CB8AC3E}">
        <p14:creationId xmlns:p14="http://schemas.microsoft.com/office/powerpoint/2010/main" val="6141590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E86FA8-669A-4CB0-87D3-1B5E40D78282}" type="slidenum">
              <a:rPr lang="en-US" smtClean="0"/>
              <a:t>10</a:t>
            </a:fld>
            <a:endParaRPr lang="en-US"/>
          </a:p>
        </p:txBody>
      </p:sp>
    </p:spTree>
    <p:extLst>
      <p:ext uri="{BB962C8B-B14F-4D97-AF65-F5344CB8AC3E}">
        <p14:creationId xmlns:p14="http://schemas.microsoft.com/office/powerpoint/2010/main" val="2960581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E86FA8-669A-4CB0-87D3-1B5E40D78282}" type="slidenum">
              <a:rPr lang="en-US" smtClean="0"/>
              <a:t>17</a:t>
            </a:fld>
            <a:endParaRPr lang="en-US"/>
          </a:p>
        </p:txBody>
      </p:sp>
    </p:spTree>
    <p:extLst>
      <p:ext uri="{BB962C8B-B14F-4D97-AF65-F5344CB8AC3E}">
        <p14:creationId xmlns:p14="http://schemas.microsoft.com/office/powerpoint/2010/main" val="792432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6040" y="2654311"/>
            <a:ext cx="14160051" cy="2743202"/>
          </a:xfrm>
        </p:spPr>
        <p:txBody>
          <a:bodyPr anchor="b">
            <a:normAutofit/>
          </a:bodyPr>
          <a:lstStyle>
            <a:lvl1pPr algn="ctr">
              <a:defRPr sz="8100"/>
            </a:lvl1pPr>
          </a:lstStyle>
          <a:p>
            <a:r>
              <a:rPr lang="en-US"/>
              <a:t>Click to edit Master title style</a:t>
            </a:r>
            <a:endParaRPr lang="en-US" dirty="0"/>
          </a:p>
        </p:txBody>
      </p:sp>
      <p:sp>
        <p:nvSpPr>
          <p:cNvPr id="3" name="Subtitle 2"/>
          <p:cNvSpPr>
            <a:spLocks noGrp="1"/>
          </p:cNvSpPr>
          <p:nvPr>
            <p:ph type="subTitle" idx="1"/>
          </p:nvPr>
        </p:nvSpPr>
        <p:spPr>
          <a:xfrm>
            <a:off x="2056040" y="5397509"/>
            <a:ext cx="14160051" cy="1574801"/>
          </a:xfrm>
        </p:spPr>
        <p:txBody>
          <a:bodyPr anchor="t"/>
          <a:lstStyle>
            <a:lvl1pPr marL="0" indent="0" algn="ctr">
              <a:buNone/>
              <a:defRPr>
                <a:solidFill>
                  <a:schemeClr val="tx1"/>
                </a:solidFill>
              </a:defRPr>
            </a:lvl1pPr>
            <a:lvl2pPr marL="685800" indent="0" algn="ctr">
              <a:buNone/>
              <a:defRPr>
                <a:solidFill>
                  <a:schemeClr val="tx1">
                    <a:tint val="75000"/>
                  </a:schemeClr>
                </a:solidFill>
              </a:defRPr>
            </a:lvl2pPr>
            <a:lvl3pPr marL="1371600" indent="0" algn="ctr">
              <a:buNone/>
              <a:defRPr>
                <a:solidFill>
                  <a:schemeClr val="tx1">
                    <a:tint val="75000"/>
                  </a:schemeClr>
                </a:solidFill>
              </a:defRPr>
            </a:lvl3pPr>
            <a:lvl4pPr marL="2057400" indent="0" algn="ctr">
              <a:buNone/>
              <a:defRPr>
                <a:solidFill>
                  <a:schemeClr val="tx1">
                    <a:tint val="75000"/>
                  </a:schemeClr>
                </a:solidFill>
              </a:defRPr>
            </a:lvl4pPr>
            <a:lvl5pPr marL="2743200" indent="0" algn="ctr">
              <a:buNone/>
              <a:defRPr>
                <a:solidFill>
                  <a:schemeClr val="tx1">
                    <a:tint val="75000"/>
                  </a:schemeClr>
                </a:solidFill>
              </a:defRPr>
            </a:lvl5pPr>
            <a:lvl6pPr marL="3429000" indent="0" algn="ctr">
              <a:buNone/>
              <a:defRPr>
                <a:solidFill>
                  <a:schemeClr val="tx1">
                    <a:tint val="75000"/>
                  </a:schemeClr>
                </a:solidFill>
              </a:defRPr>
            </a:lvl6pPr>
            <a:lvl7pPr marL="4114800" indent="0" algn="ctr">
              <a:buNone/>
              <a:defRPr>
                <a:solidFill>
                  <a:schemeClr val="tx1">
                    <a:tint val="75000"/>
                  </a:schemeClr>
                </a:solidFill>
              </a:defRPr>
            </a:lvl7pPr>
            <a:lvl8pPr marL="4800600" indent="0" algn="ctr">
              <a:buNone/>
              <a:defRPr>
                <a:solidFill>
                  <a:schemeClr val="tx1">
                    <a:tint val="75000"/>
                  </a:schemeClr>
                </a:solidFill>
              </a:defRPr>
            </a:lvl8pPr>
            <a:lvl9pPr marL="54864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423228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34386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3102" y="2641601"/>
            <a:ext cx="14385825" cy="2743220"/>
          </a:xfrm>
        </p:spPr>
        <p:txBody>
          <a:bodyPr anchor="b"/>
          <a:lstStyle>
            <a:lvl1pPr algn="ctr">
              <a:defRPr sz="6000" b="0" cap="none"/>
            </a:lvl1pPr>
          </a:lstStyle>
          <a:p>
            <a:r>
              <a:rPr lang="en-US"/>
              <a:t>Click to edit Master title style</a:t>
            </a:r>
            <a:endParaRPr lang="en-US" dirty="0"/>
          </a:p>
        </p:txBody>
      </p:sp>
      <p:sp>
        <p:nvSpPr>
          <p:cNvPr id="3" name="Text Placeholder 2"/>
          <p:cNvSpPr>
            <a:spLocks noGrp="1"/>
          </p:cNvSpPr>
          <p:nvPr>
            <p:ph type="body" idx="1"/>
          </p:nvPr>
        </p:nvSpPr>
        <p:spPr>
          <a:xfrm>
            <a:off x="1943102" y="5384819"/>
            <a:ext cx="14385825" cy="2260581"/>
          </a:xfrm>
        </p:spPr>
        <p:txBody>
          <a:bodyPr anchor="t"/>
          <a:lstStyle>
            <a:lvl1pPr marL="0" indent="0" algn="ctr">
              <a:buNone/>
              <a:defRPr sz="3000">
                <a:solidFill>
                  <a:schemeClr val="tx1"/>
                </a:solidFill>
              </a:defRPr>
            </a:lvl1pPr>
            <a:lvl2pPr marL="685800" indent="0">
              <a:buNone/>
              <a:defRPr sz="2700">
                <a:solidFill>
                  <a:schemeClr val="tx1">
                    <a:tint val="75000"/>
                  </a:schemeClr>
                </a:solidFill>
              </a:defRPr>
            </a:lvl2pPr>
            <a:lvl3pPr marL="1371600" indent="0">
              <a:buNone/>
              <a:defRPr sz="2400">
                <a:solidFill>
                  <a:schemeClr val="tx1">
                    <a:tint val="75000"/>
                  </a:schemeClr>
                </a:solidFill>
              </a:defRPr>
            </a:lvl3pPr>
            <a:lvl4pPr marL="2057400" indent="0">
              <a:buNone/>
              <a:defRPr sz="2100">
                <a:solidFill>
                  <a:schemeClr val="tx1">
                    <a:tint val="75000"/>
                  </a:schemeClr>
                </a:solidFill>
              </a:defRPr>
            </a:lvl4pPr>
            <a:lvl5pPr marL="2743200" indent="0">
              <a:buNone/>
              <a:defRPr sz="2100">
                <a:solidFill>
                  <a:schemeClr val="tx1">
                    <a:tint val="75000"/>
                  </a:schemeClr>
                </a:solidFill>
              </a:defRPr>
            </a:lvl5pPr>
            <a:lvl6pPr marL="3429000" indent="0">
              <a:buNone/>
              <a:defRPr sz="2100">
                <a:solidFill>
                  <a:schemeClr val="tx1">
                    <a:tint val="75000"/>
                  </a:schemeClr>
                </a:solidFill>
              </a:defRPr>
            </a:lvl6pPr>
            <a:lvl7pPr marL="4114800" indent="0">
              <a:buNone/>
              <a:defRPr sz="2100">
                <a:solidFill>
                  <a:schemeClr val="tx1">
                    <a:tint val="75000"/>
                  </a:schemeClr>
                </a:solidFill>
              </a:defRPr>
            </a:lvl7pPr>
            <a:lvl8pPr marL="4800600" indent="0">
              <a:buNone/>
              <a:defRPr sz="2100">
                <a:solidFill>
                  <a:schemeClr val="tx1">
                    <a:tint val="75000"/>
                  </a:schemeClr>
                </a:solidFill>
              </a:defRPr>
            </a:lvl8pPr>
            <a:lvl9pPr marL="5486400" indent="0">
              <a:buNone/>
              <a:defRPr sz="21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910302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370693" y="2598674"/>
            <a:ext cx="7590746" cy="608812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304339" y="2598674"/>
            <a:ext cx="7596998" cy="6088127"/>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62375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0693" y="2601760"/>
            <a:ext cx="7633608" cy="6223154"/>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67728" y="2601760"/>
            <a:ext cx="7633608" cy="6223154"/>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508808" y="2752881"/>
            <a:ext cx="7314516" cy="817326"/>
          </a:xfrm>
        </p:spPr>
        <p:txBody>
          <a:bodyPr anchor="b">
            <a:noAutofit/>
          </a:bodyPr>
          <a:lstStyle>
            <a:lvl1pPr marL="0" indent="0" algn="ctr">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p:cNvSpPr>
            <a:spLocks noGrp="1"/>
          </p:cNvSpPr>
          <p:nvPr>
            <p:ph sz="half" idx="2"/>
          </p:nvPr>
        </p:nvSpPr>
        <p:spPr>
          <a:xfrm>
            <a:off x="1508808" y="3570206"/>
            <a:ext cx="7314516" cy="5116595"/>
          </a:xfrm>
        </p:spPr>
        <p:txBody>
          <a:bodyPr anchor="t">
            <a:normAutofit/>
          </a:bodyPr>
          <a:lstStyle>
            <a:lvl1pPr>
              <a:defRPr sz="2700"/>
            </a:lvl1pPr>
            <a:lvl2pPr>
              <a:defRPr sz="2400"/>
            </a:lvl2pPr>
            <a:lvl3pPr>
              <a:defRPr sz="21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442451" y="2752882"/>
            <a:ext cx="7342995" cy="817325"/>
          </a:xfrm>
        </p:spPr>
        <p:txBody>
          <a:bodyPr anchor="b">
            <a:noAutofit/>
          </a:bodyPr>
          <a:lstStyle>
            <a:lvl1pPr marL="0" indent="0" algn="ctr">
              <a:buNone/>
              <a:defRPr sz="3600" b="0"/>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442451" y="3570206"/>
            <a:ext cx="7342995" cy="5116595"/>
          </a:xfrm>
        </p:spPr>
        <p:txBody>
          <a:bodyPr anchor="t">
            <a:normAutofit/>
          </a:bodyPr>
          <a:lstStyle>
            <a:lvl1pPr>
              <a:defRPr sz="2700"/>
            </a:lvl1pPr>
            <a:lvl2pPr>
              <a:defRPr sz="2400"/>
            </a:lvl2pPr>
            <a:lvl3pPr>
              <a:defRPr sz="21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4/1/2026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92023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12690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189771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70693" y="914400"/>
            <a:ext cx="5560334" cy="2732877"/>
          </a:xfrm>
        </p:spPr>
        <p:txBody>
          <a:bodyPr anchor="b">
            <a:normAutofit/>
          </a:bodyPr>
          <a:lstStyle>
            <a:lvl1pPr algn="ctr">
              <a:defRPr sz="3600" b="0"/>
            </a:lvl1pPr>
          </a:lstStyle>
          <a:p>
            <a:r>
              <a:rPr lang="en-US"/>
              <a:t>Click to edit Master title style</a:t>
            </a:r>
            <a:endParaRPr lang="en-US" dirty="0"/>
          </a:p>
        </p:txBody>
      </p:sp>
      <p:sp>
        <p:nvSpPr>
          <p:cNvPr id="3" name="Content Placeholder 2"/>
          <p:cNvSpPr>
            <a:spLocks noGrp="1"/>
          </p:cNvSpPr>
          <p:nvPr>
            <p:ph idx="1"/>
          </p:nvPr>
        </p:nvSpPr>
        <p:spPr>
          <a:xfrm>
            <a:off x="7283450" y="914400"/>
            <a:ext cx="9617886" cy="7772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370693" y="3647277"/>
            <a:ext cx="5560334" cy="5039522"/>
          </a:xfrm>
        </p:spPr>
        <p:txBody>
          <a:bodyPr anchor="t">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09127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40498" y="914400"/>
            <a:ext cx="5376249" cy="7807248"/>
          </a:xfrm>
          <a:prstGeom prst="rect">
            <a:avLst/>
          </a:prstGeom>
        </p:spPr>
      </p:pic>
      <p:sp>
        <p:nvSpPr>
          <p:cNvPr id="2" name="Title 1"/>
          <p:cNvSpPr>
            <a:spLocks noGrp="1"/>
          </p:cNvSpPr>
          <p:nvPr>
            <p:ph type="title"/>
          </p:nvPr>
        </p:nvSpPr>
        <p:spPr>
          <a:xfrm>
            <a:off x="1370693" y="914885"/>
            <a:ext cx="8902424" cy="2744007"/>
          </a:xfrm>
        </p:spPr>
        <p:txBody>
          <a:bodyPr anchor="b">
            <a:noAutofit/>
          </a:bodyPr>
          <a:lstStyle>
            <a:lvl1pPr algn="ctr">
              <a:defRPr sz="48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163827" y="1145553"/>
            <a:ext cx="4913627" cy="7369233"/>
          </a:xfrm>
          <a:effectLst>
            <a:outerShdw blurRad="38100" dist="25400" dir="4440000">
              <a:srgbClr val="000000">
                <a:alpha val="36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4" name="Text Placeholder 3"/>
          <p:cNvSpPr>
            <a:spLocks noGrp="1"/>
          </p:cNvSpPr>
          <p:nvPr>
            <p:ph type="body" sz="half" idx="2"/>
          </p:nvPr>
        </p:nvSpPr>
        <p:spPr>
          <a:xfrm>
            <a:off x="1370693" y="3658891"/>
            <a:ext cx="8902424" cy="5064201"/>
          </a:xfrm>
        </p:spPr>
        <p:txBody>
          <a:bodyPr anchor="t">
            <a:normAutofit/>
          </a:bodyPr>
          <a:lstStyle>
            <a:lvl1pPr marL="0" indent="0" algn="ctr">
              <a:buNone/>
              <a:defRPr sz="24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3218989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0825" y="821711"/>
            <a:ext cx="15212699" cy="5725209"/>
          </a:xfrm>
          <a:prstGeom prst="rect">
            <a:avLst/>
          </a:prstGeom>
        </p:spPr>
      </p:pic>
      <p:sp>
        <p:nvSpPr>
          <p:cNvPr id="2" name="Title 1"/>
          <p:cNvSpPr>
            <a:spLocks noGrp="1"/>
          </p:cNvSpPr>
          <p:nvPr>
            <p:ph type="title"/>
          </p:nvPr>
        </p:nvSpPr>
        <p:spPr>
          <a:xfrm>
            <a:off x="1370709" y="6847883"/>
            <a:ext cx="15532989" cy="815208"/>
          </a:xfrm>
        </p:spPr>
        <p:txBody>
          <a:bodyPr anchor="b">
            <a:normAutofit/>
          </a:bodyPr>
          <a:lstStyle>
            <a:lvl1pPr algn="ctr">
              <a:defRPr sz="4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54024" y="1042514"/>
            <a:ext cx="14768019" cy="5288507"/>
          </a:xfrm>
          <a:effectLst>
            <a:outerShdw blurRad="38100" dist="25400" dir="4440000">
              <a:srgbClr val="000000">
                <a:alpha val="36000"/>
              </a:srgbClr>
            </a:outerShdw>
          </a:effectLst>
        </p:spPr>
        <p:txBody>
          <a:bodyPr anchor="t">
            <a:normAutofit/>
          </a:bodyPr>
          <a:lstStyle>
            <a:lvl1pPr marL="0" indent="0" algn="ctr">
              <a:buNone/>
              <a:defRPr sz="3000"/>
            </a:lvl1pPr>
            <a:lvl2pPr marL="685800" indent="0">
              <a:buNone/>
              <a:defRPr sz="3000"/>
            </a:lvl2pPr>
            <a:lvl3pPr marL="1371600" indent="0">
              <a:buNone/>
              <a:defRPr sz="30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370693" y="7663092"/>
            <a:ext cx="15530643" cy="1023708"/>
          </a:xfrm>
        </p:spPr>
        <p:txBody>
          <a:bodyPr anchor="t"/>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77142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70693" y="912656"/>
            <a:ext cx="15530643" cy="5301516"/>
          </a:xfrm>
        </p:spPr>
        <p:txBody>
          <a:bodyPr anchor="ctr"/>
          <a:lstStyle>
            <a:lvl1pP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1370692" y="6442770"/>
            <a:ext cx="15530645" cy="2252739"/>
          </a:xfrm>
        </p:spPr>
        <p:txBody>
          <a:bodyPr anchor="ct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14848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69318" y="914400"/>
            <a:ext cx="13954128" cy="4489356"/>
          </a:xfrm>
        </p:spPr>
        <p:txBody>
          <a:bodyPr anchor="ctr"/>
          <a:lstStyle>
            <a:lvl1pPr>
              <a:defRPr sz="4800"/>
            </a:lvl1pPr>
          </a:lstStyle>
          <a:p>
            <a:r>
              <a:rPr lang="en-US"/>
              <a:t>Click to edit Master title style</a:t>
            </a:r>
            <a:endParaRPr lang="en-US" dirty="0"/>
          </a:p>
        </p:txBody>
      </p:sp>
      <p:sp>
        <p:nvSpPr>
          <p:cNvPr id="12" name="Text Placeholder 3"/>
          <p:cNvSpPr>
            <a:spLocks noGrp="1"/>
          </p:cNvSpPr>
          <p:nvPr>
            <p:ph type="body" sz="half" idx="13"/>
          </p:nvPr>
        </p:nvSpPr>
        <p:spPr>
          <a:xfrm>
            <a:off x="2580967" y="5415049"/>
            <a:ext cx="13128449" cy="799124"/>
          </a:xfrm>
        </p:spPr>
        <p:txBody>
          <a:bodyPr anchor="t">
            <a:normAutofit/>
          </a:bodyPr>
          <a:lstStyle>
            <a:lvl1pPr marL="0" indent="0" algn="r">
              <a:buNone/>
              <a:defRPr sz="21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4" name="Text Placeholder 3"/>
          <p:cNvSpPr>
            <a:spLocks noGrp="1"/>
          </p:cNvSpPr>
          <p:nvPr>
            <p:ph type="body" sz="half" idx="2"/>
          </p:nvPr>
        </p:nvSpPr>
        <p:spPr>
          <a:xfrm>
            <a:off x="1370692" y="6456530"/>
            <a:ext cx="15530645" cy="2234244"/>
          </a:xfrm>
        </p:spPr>
        <p:txBody>
          <a:bodyPr anchor="ctr">
            <a:normAutofit/>
          </a:bodyPr>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TextBox 10"/>
          <p:cNvSpPr txBox="1"/>
          <p:nvPr/>
        </p:nvSpPr>
        <p:spPr>
          <a:xfrm>
            <a:off x="1485900" y="1327194"/>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12000" dirty="0">
                <a:solidFill>
                  <a:schemeClr val="tx1"/>
                </a:solidFill>
                <a:effectLst/>
              </a:rPr>
              <a:t>“</a:t>
            </a:r>
          </a:p>
        </p:txBody>
      </p:sp>
      <p:sp>
        <p:nvSpPr>
          <p:cNvPr id="13" name="TextBox 12"/>
          <p:cNvSpPr txBox="1"/>
          <p:nvPr/>
        </p:nvSpPr>
        <p:spPr>
          <a:xfrm>
            <a:off x="15757074" y="4392387"/>
            <a:ext cx="914400" cy="877164"/>
          </a:xfrm>
          <a:prstGeom prst="rect">
            <a:avLst/>
          </a:prstGeom>
        </p:spPr>
        <p:txBody>
          <a:bodyPr vert="horz" lIns="137160" tIns="68580" rIns="137160" bIns="6858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12000" dirty="0">
                <a:solidFill>
                  <a:schemeClr val="tx1"/>
                </a:solidFill>
                <a:effectLst/>
              </a:rPr>
              <a:t>”</a:t>
            </a:r>
          </a:p>
        </p:txBody>
      </p:sp>
    </p:spTree>
    <p:extLst>
      <p:ext uri="{BB962C8B-B14F-4D97-AF65-F5344CB8AC3E}">
        <p14:creationId xmlns:p14="http://schemas.microsoft.com/office/powerpoint/2010/main" val="31374490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370692" y="3190414"/>
            <a:ext cx="15530645" cy="3767753"/>
          </a:xfrm>
        </p:spPr>
        <p:txBody>
          <a:bodyPr anchor="b"/>
          <a:lstStyle>
            <a:lvl1pPr>
              <a:defRPr sz="4800"/>
            </a:lvl1pPr>
          </a:lstStyle>
          <a:p>
            <a:r>
              <a:rPr lang="en-US"/>
              <a:t>Click to edit Master title style</a:t>
            </a:r>
            <a:endParaRPr lang="en-US" dirty="0"/>
          </a:p>
        </p:txBody>
      </p:sp>
      <p:sp>
        <p:nvSpPr>
          <p:cNvPr id="4" name="Text Placeholder 3"/>
          <p:cNvSpPr>
            <a:spLocks noGrp="1"/>
          </p:cNvSpPr>
          <p:nvPr>
            <p:ph type="body" sz="half" idx="2"/>
          </p:nvPr>
        </p:nvSpPr>
        <p:spPr>
          <a:xfrm>
            <a:off x="1370677" y="6975834"/>
            <a:ext cx="15528299" cy="1710966"/>
          </a:xfrm>
        </p:spPr>
        <p:txBody>
          <a:bodyPr anchor="t"/>
          <a:lstStyle>
            <a:lvl1pPr marL="0" indent="0" algn="ctr">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7071836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370693" y="914400"/>
            <a:ext cx="15530643" cy="1455675"/>
          </a:xfrm>
        </p:spPr>
        <p:txBody>
          <a:bodyPr/>
          <a:lstStyle/>
          <a:p>
            <a:r>
              <a:rPr lang="en-US"/>
              <a:t>Click to edit Master title style</a:t>
            </a:r>
            <a:endParaRPr lang="en-US" dirty="0"/>
          </a:p>
        </p:txBody>
      </p:sp>
      <p:sp>
        <p:nvSpPr>
          <p:cNvPr id="7" name="Text Placeholder 2"/>
          <p:cNvSpPr>
            <a:spLocks noGrp="1"/>
          </p:cNvSpPr>
          <p:nvPr>
            <p:ph type="body" idx="1"/>
          </p:nvPr>
        </p:nvSpPr>
        <p:spPr>
          <a:xfrm>
            <a:off x="1370693" y="2828925"/>
            <a:ext cx="4951476" cy="864393"/>
          </a:xfrm>
        </p:spPr>
        <p:txBody>
          <a:bodyPr anchor="b">
            <a:noAutofit/>
          </a:bodyPr>
          <a:lstStyle>
            <a:lvl1pPr marL="0" indent="0" algn="ctr">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8" name="Text Placeholder 3"/>
          <p:cNvSpPr>
            <a:spLocks noGrp="1"/>
          </p:cNvSpPr>
          <p:nvPr>
            <p:ph type="body" sz="half" idx="15"/>
          </p:nvPr>
        </p:nvSpPr>
        <p:spPr>
          <a:xfrm>
            <a:off x="1370693" y="3857625"/>
            <a:ext cx="4951476" cy="4829175"/>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9" name="Text Placeholder 4"/>
          <p:cNvSpPr>
            <a:spLocks noGrp="1"/>
          </p:cNvSpPr>
          <p:nvPr>
            <p:ph type="body" sz="quarter" idx="3"/>
          </p:nvPr>
        </p:nvSpPr>
        <p:spPr>
          <a:xfrm>
            <a:off x="6670067" y="2828925"/>
            <a:ext cx="4951476" cy="864393"/>
          </a:xfrm>
        </p:spPr>
        <p:txBody>
          <a:bodyPr anchor="b">
            <a:noAutofit/>
          </a:bodyPr>
          <a:lstStyle>
            <a:lvl1pPr marL="0" indent="0" algn="ctr">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0" name="Text Placeholder 3"/>
          <p:cNvSpPr>
            <a:spLocks noGrp="1"/>
          </p:cNvSpPr>
          <p:nvPr>
            <p:ph type="body" sz="half" idx="16"/>
          </p:nvPr>
        </p:nvSpPr>
        <p:spPr>
          <a:xfrm>
            <a:off x="6662153" y="3857625"/>
            <a:ext cx="4951476" cy="4829175"/>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11" name="Text Placeholder 4"/>
          <p:cNvSpPr>
            <a:spLocks noGrp="1"/>
          </p:cNvSpPr>
          <p:nvPr>
            <p:ph type="body" sz="quarter" idx="13"/>
          </p:nvPr>
        </p:nvSpPr>
        <p:spPr>
          <a:xfrm>
            <a:off x="11949858" y="2828925"/>
            <a:ext cx="4951476" cy="864393"/>
          </a:xfrm>
        </p:spPr>
        <p:txBody>
          <a:bodyPr anchor="b">
            <a:noAutofit/>
          </a:bodyPr>
          <a:lstStyle>
            <a:lvl1pPr marL="0" indent="0" algn="ctr">
              <a:buNone/>
              <a:defRPr sz="36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12" name="Text Placeholder 3"/>
          <p:cNvSpPr>
            <a:spLocks noGrp="1"/>
          </p:cNvSpPr>
          <p:nvPr>
            <p:ph type="body" sz="half" idx="17"/>
          </p:nvPr>
        </p:nvSpPr>
        <p:spPr>
          <a:xfrm>
            <a:off x="11949858" y="3857625"/>
            <a:ext cx="4951476" cy="4829175"/>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6492973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6943" y="2727322"/>
            <a:ext cx="5009958" cy="2771777"/>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5700" y="2727322"/>
            <a:ext cx="5009958" cy="2771777"/>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04077" y="2727322"/>
            <a:ext cx="5009958" cy="2771777"/>
          </a:xfrm>
          <a:prstGeom prst="rect">
            <a:avLst/>
          </a:prstGeom>
        </p:spPr>
      </p:pic>
      <p:sp>
        <p:nvSpPr>
          <p:cNvPr id="30" name="Title 1"/>
          <p:cNvSpPr>
            <a:spLocks noGrp="1"/>
          </p:cNvSpPr>
          <p:nvPr>
            <p:ph type="title"/>
          </p:nvPr>
        </p:nvSpPr>
        <p:spPr>
          <a:xfrm>
            <a:off x="1370692" y="914400"/>
            <a:ext cx="15530645" cy="1455675"/>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370693" y="5856159"/>
            <a:ext cx="4951476" cy="864393"/>
          </a:xfrm>
        </p:spPr>
        <p:txBody>
          <a:bodyPr anchor="b">
            <a:noAutofit/>
          </a:bodyPr>
          <a:lstStyle>
            <a:lvl1pPr marL="0" indent="0" algn="ctr">
              <a:buNone/>
              <a:defRPr sz="30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0" name="Picture Placeholder 2"/>
          <p:cNvSpPr>
            <a:spLocks noGrp="1" noChangeAspect="1"/>
          </p:cNvSpPr>
          <p:nvPr>
            <p:ph type="pic" idx="15"/>
          </p:nvPr>
        </p:nvSpPr>
        <p:spPr>
          <a:xfrm>
            <a:off x="1527153" y="2908377"/>
            <a:ext cx="4638552" cy="240443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1" name="Text Placeholder 3"/>
          <p:cNvSpPr>
            <a:spLocks noGrp="1"/>
          </p:cNvSpPr>
          <p:nvPr>
            <p:ph type="body" sz="half" idx="18"/>
          </p:nvPr>
        </p:nvSpPr>
        <p:spPr>
          <a:xfrm>
            <a:off x="1370693" y="6720553"/>
            <a:ext cx="4951476" cy="1966250"/>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2" name="Text Placeholder 4"/>
          <p:cNvSpPr>
            <a:spLocks noGrp="1"/>
          </p:cNvSpPr>
          <p:nvPr>
            <p:ph type="body" sz="quarter" idx="3"/>
          </p:nvPr>
        </p:nvSpPr>
        <p:spPr>
          <a:xfrm>
            <a:off x="6664182" y="5856159"/>
            <a:ext cx="4951476" cy="864393"/>
          </a:xfrm>
        </p:spPr>
        <p:txBody>
          <a:bodyPr anchor="b">
            <a:noAutofit/>
          </a:bodyPr>
          <a:lstStyle>
            <a:lvl1pPr marL="0" indent="0" algn="ctr">
              <a:buNone/>
              <a:defRPr sz="30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3" name="Picture Placeholder 2"/>
          <p:cNvSpPr>
            <a:spLocks noGrp="1" noChangeAspect="1"/>
          </p:cNvSpPr>
          <p:nvPr>
            <p:ph type="pic" idx="21"/>
          </p:nvPr>
        </p:nvSpPr>
        <p:spPr>
          <a:xfrm>
            <a:off x="6818615" y="2908641"/>
            <a:ext cx="4638552" cy="2412246"/>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4" name="Text Placeholder 3"/>
          <p:cNvSpPr>
            <a:spLocks noGrp="1"/>
          </p:cNvSpPr>
          <p:nvPr>
            <p:ph type="body" sz="half" idx="19"/>
          </p:nvPr>
        </p:nvSpPr>
        <p:spPr>
          <a:xfrm>
            <a:off x="6662153" y="6720551"/>
            <a:ext cx="4951476" cy="1966250"/>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25" name="Text Placeholder 4"/>
          <p:cNvSpPr>
            <a:spLocks noGrp="1"/>
          </p:cNvSpPr>
          <p:nvPr>
            <p:ph type="body" sz="quarter" idx="13"/>
          </p:nvPr>
        </p:nvSpPr>
        <p:spPr>
          <a:xfrm>
            <a:off x="11950046" y="5856159"/>
            <a:ext cx="4951476" cy="864393"/>
          </a:xfrm>
        </p:spPr>
        <p:txBody>
          <a:bodyPr anchor="b">
            <a:noAutofit/>
          </a:bodyPr>
          <a:lstStyle>
            <a:lvl1pPr marL="0" indent="0" algn="ctr">
              <a:buNone/>
              <a:defRPr sz="3000" b="0">
                <a:solidFill>
                  <a:schemeClr val="tx1"/>
                </a:solidFill>
              </a:defRPr>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26" name="Picture Placeholder 2"/>
          <p:cNvSpPr>
            <a:spLocks noGrp="1" noChangeAspect="1"/>
          </p:cNvSpPr>
          <p:nvPr>
            <p:ph type="pic" idx="22"/>
          </p:nvPr>
        </p:nvSpPr>
        <p:spPr>
          <a:xfrm>
            <a:off x="12113547" y="2901648"/>
            <a:ext cx="4638552" cy="2410941"/>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2400"/>
            </a:lvl1pPr>
            <a:lvl2pPr marL="685800" indent="0">
              <a:buNone/>
              <a:defRPr sz="2400"/>
            </a:lvl2pPr>
            <a:lvl3pPr marL="1371600" indent="0">
              <a:buNone/>
              <a:defRPr sz="2400"/>
            </a:lvl3pPr>
            <a:lvl4pPr marL="2057400" indent="0">
              <a:buNone/>
              <a:defRPr sz="2400"/>
            </a:lvl4pPr>
            <a:lvl5pPr marL="2743200" indent="0">
              <a:buNone/>
              <a:defRPr sz="2400"/>
            </a:lvl5pPr>
            <a:lvl6pPr marL="3429000" indent="0">
              <a:buNone/>
              <a:defRPr sz="2400"/>
            </a:lvl6pPr>
            <a:lvl7pPr marL="4114800" indent="0">
              <a:buNone/>
              <a:defRPr sz="2400"/>
            </a:lvl7pPr>
            <a:lvl8pPr marL="4800600" indent="0">
              <a:buNone/>
              <a:defRPr sz="2400"/>
            </a:lvl8pPr>
            <a:lvl9pPr marL="5486400" indent="0">
              <a:buNone/>
              <a:defRPr sz="2400"/>
            </a:lvl9pPr>
          </a:lstStyle>
          <a:p>
            <a:r>
              <a:rPr lang="en-US"/>
              <a:t>Click icon to add picture</a:t>
            </a:r>
            <a:endParaRPr lang="en-US" dirty="0"/>
          </a:p>
        </p:txBody>
      </p:sp>
      <p:sp>
        <p:nvSpPr>
          <p:cNvPr id="27" name="Text Placeholder 3"/>
          <p:cNvSpPr>
            <a:spLocks noGrp="1"/>
          </p:cNvSpPr>
          <p:nvPr>
            <p:ph type="body" sz="half" idx="20"/>
          </p:nvPr>
        </p:nvSpPr>
        <p:spPr>
          <a:xfrm>
            <a:off x="11949858" y="6720548"/>
            <a:ext cx="4951476" cy="1966253"/>
          </a:xfrm>
        </p:spPr>
        <p:txBody>
          <a:bodyPr anchor="t">
            <a:normAutofit/>
          </a:bodyPr>
          <a:lstStyle>
            <a:lvl1pPr marL="0" indent="0" algn="ctr">
              <a:buNone/>
              <a:defRPr sz="2100"/>
            </a:lvl1pPr>
            <a:lvl2pPr marL="685800" indent="0">
              <a:buNone/>
              <a:defRPr sz="1800"/>
            </a:lvl2pPr>
            <a:lvl3pPr marL="1371600" indent="0">
              <a:buNone/>
              <a:defRPr sz="1500"/>
            </a:lvl3pPr>
            <a:lvl4pPr marL="2057400" indent="0">
              <a:buNone/>
              <a:defRPr sz="1350"/>
            </a:lvl4pPr>
            <a:lvl5pPr marL="2743200" indent="0">
              <a:buNone/>
              <a:defRPr sz="1350"/>
            </a:lvl5pPr>
            <a:lvl6pPr marL="3429000" indent="0">
              <a:buNone/>
              <a:defRPr sz="1350"/>
            </a:lvl6pPr>
            <a:lvl7pPr marL="4114800" indent="0">
              <a:buNone/>
              <a:defRPr sz="1350"/>
            </a:lvl7pPr>
            <a:lvl8pPr marL="4800600" indent="0">
              <a:buNone/>
              <a:defRPr sz="1350"/>
            </a:lvl8pPr>
            <a:lvl9pPr marL="5486400" indent="0">
              <a:buNone/>
              <a:defRPr sz="1350"/>
            </a:lvl9pPr>
          </a:lstStyle>
          <a:p>
            <a:pPr lvl="0"/>
            <a:r>
              <a:rPr lang="en-US"/>
              <a:t>Click to edit Master text styles</a:t>
            </a:r>
          </a:p>
        </p:txBody>
      </p:sp>
      <p:sp>
        <p:nvSpPr>
          <p:cNvPr id="3" name="Date Placeholder 2"/>
          <p:cNvSpPr>
            <a:spLocks noGrp="1"/>
          </p:cNvSpPr>
          <p:nvPr>
            <p:ph type="dt" sz="half" idx="10"/>
          </p:nvPr>
        </p:nvSpPr>
        <p:spPr/>
        <p:txBody>
          <a:bodyPr/>
          <a:lstStyle/>
          <a:p>
            <a:fld id="{1D8BD707-D9CF-40AE-B4C6-C98DA3205C09}" type="datetimeFigureOut">
              <a:rPr lang="en-US" smtClean="0"/>
              <a:pPr/>
              <a:t>4/1/2026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5979122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2257920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474603" y="914399"/>
            <a:ext cx="3426731" cy="7772402"/>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370694" y="914399"/>
            <a:ext cx="11875308" cy="777240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4/1/2026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483355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0693" y="914400"/>
            <a:ext cx="15530643" cy="1455675"/>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70693" y="2598674"/>
            <a:ext cx="15530643" cy="6088127"/>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518104" y="8824913"/>
            <a:ext cx="4114800" cy="547688"/>
          </a:xfrm>
          <a:prstGeom prst="rect">
            <a:avLst/>
          </a:prstGeom>
        </p:spPr>
        <p:txBody>
          <a:bodyPr vert="horz" lIns="91440" tIns="45720" rIns="91440" bIns="45720" rtlCol="0" anchor="ctr"/>
          <a:lstStyle>
            <a:lvl1pPr algn="r">
              <a:defRPr sz="1500">
                <a:solidFill>
                  <a:schemeClr val="tx1">
                    <a:lumMod val="95000"/>
                  </a:schemeClr>
                </a:solidFill>
                <a:effectLst>
                  <a:outerShdw blurRad="50800" dist="38100" dir="2700000" algn="tl" rotWithShape="0">
                    <a:schemeClr val="bg1">
                      <a:alpha val="43000"/>
                    </a:schemeClr>
                  </a:outerShdw>
                </a:effectLst>
              </a:defRPr>
            </a:lvl1pPr>
          </a:lstStyle>
          <a:p>
            <a:fld id="{1D8BD707-D9CF-40AE-B4C6-C98DA3205C09}" type="datetimeFigureOut">
              <a:rPr lang="en-US" smtClean="0"/>
              <a:pPr/>
              <a:t>4/1/2026</a:t>
            </a:fld>
            <a:endParaRPr lang="en-US"/>
          </a:p>
        </p:txBody>
      </p:sp>
      <p:sp>
        <p:nvSpPr>
          <p:cNvPr id="5" name="Footer Placeholder 4"/>
          <p:cNvSpPr>
            <a:spLocks noGrp="1"/>
          </p:cNvSpPr>
          <p:nvPr>
            <p:ph type="ftr" sz="quarter" idx="3"/>
          </p:nvPr>
        </p:nvSpPr>
        <p:spPr>
          <a:xfrm>
            <a:off x="1370693" y="8824913"/>
            <a:ext cx="10009298" cy="547688"/>
          </a:xfrm>
          <a:prstGeom prst="rect">
            <a:avLst/>
          </a:prstGeom>
        </p:spPr>
        <p:txBody>
          <a:bodyPr vert="horz" lIns="91440" tIns="45720" rIns="91440" bIns="45720" rtlCol="0" anchor="ctr"/>
          <a:lstStyle>
            <a:lvl1pPr algn="l">
              <a:defRPr sz="15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5771017" y="8824913"/>
            <a:ext cx="1130318" cy="547688"/>
          </a:xfrm>
          <a:prstGeom prst="rect">
            <a:avLst/>
          </a:prstGeom>
        </p:spPr>
        <p:txBody>
          <a:bodyPr vert="horz" lIns="91440" tIns="45720" rIns="91440" bIns="45720" rtlCol="0" anchor="ctr"/>
          <a:lstStyle>
            <a:lvl1pPr algn="r">
              <a:defRPr sz="1500">
                <a:solidFill>
                  <a:schemeClr val="tx1">
                    <a:lumMod val="95000"/>
                  </a:schemeClr>
                </a:solidFill>
                <a:effectLst>
                  <a:outerShdw blurRad="50800" dist="38100" dir="2700000" algn="tl" rotWithShape="0">
                    <a:schemeClr val="bg1">
                      <a:alpha val="43000"/>
                    </a:schemeClr>
                  </a:outerShdw>
                </a:effectLst>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4908513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685800" rtl="0" eaLnBrk="1" latinLnBrk="0" hangingPunct="1">
        <a:spcBef>
          <a:spcPct val="0"/>
        </a:spcBef>
        <a:buNone/>
        <a:defRPr sz="6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514350" indent="-459000" algn="l" defTabSz="685800" rtl="0" eaLnBrk="1" latinLnBrk="0" hangingPunct="1">
        <a:spcBef>
          <a:spcPct val="20000"/>
        </a:spcBef>
        <a:spcAft>
          <a:spcPts val="900"/>
        </a:spcAft>
        <a:buClr>
          <a:schemeClr val="tx2"/>
        </a:buClr>
        <a:buSzPct val="70000"/>
        <a:buFont typeface="Wingdings 2" charset="2"/>
        <a:buChar char=""/>
        <a:defRPr sz="3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1080000" indent="-405000" algn="l" defTabSz="685800" rtl="0" eaLnBrk="1" latinLnBrk="0" hangingPunct="1">
        <a:spcBef>
          <a:spcPct val="20000"/>
        </a:spcBef>
        <a:spcAft>
          <a:spcPts val="900"/>
        </a:spcAft>
        <a:buClr>
          <a:schemeClr val="tx2"/>
        </a:buClr>
        <a:buSzPct val="70000"/>
        <a:buFont typeface="Wingdings 2" charset="2"/>
        <a:buChar char=""/>
        <a:defRPr sz="27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539000" indent="-324000" algn="l" defTabSz="685800" rtl="0" eaLnBrk="1" latinLnBrk="0" hangingPunct="1">
        <a:spcBef>
          <a:spcPct val="20000"/>
        </a:spcBef>
        <a:spcAft>
          <a:spcPts val="900"/>
        </a:spcAft>
        <a:buClr>
          <a:schemeClr val="tx2"/>
        </a:buClr>
        <a:buSzPct val="70000"/>
        <a:buFont typeface="Wingdings 2" charset="2"/>
        <a:buChar char=""/>
        <a:defRPr sz="2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2079000" indent="-324000" algn="l" defTabSz="685800" rtl="0" eaLnBrk="1" latinLnBrk="0" hangingPunct="1">
        <a:spcBef>
          <a:spcPct val="20000"/>
        </a:spcBef>
        <a:spcAft>
          <a:spcPts val="9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2511000" indent="-324000" algn="l" defTabSz="685800" rtl="0" eaLnBrk="1" latinLnBrk="0" hangingPunct="1">
        <a:spcBef>
          <a:spcPct val="20000"/>
        </a:spcBef>
        <a:spcAft>
          <a:spcPts val="9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3021900" indent="-342900" algn="l" defTabSz="685800" rtl="0" eaLnBrk="1" latinLnBrk="0" hangingPunct="1">
        <a:spcBef>
          <a:spcPct val="20000"/>
        </a:spcBef>
        <a:spcAft>
          <a:spcPts val="9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3602700" indent="-342900" algn="l" defTabSz="685800" rtl="0" eaLnBrk="1" latinLnBrk="0" hangingPunct="1">
        <a:spcBef>
          <a:spcPct val="20000"/>
        </a:spcBef>
        <a:spcAft>
          <a:spcPts val="9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4183500" indent="-342900" algn="l" defTabSz="685800" rtl="0" eaLnBrk="1" latinLnBrk="0" hangingPunct="1">
        <a:spcBef>
          <a:spcPct val="20000"/>
        </a:spcBef>
        <a:spcAft>
          <a:spcPts val="9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4659300" indent="-342900" algn="l" defTabSz="685800" rtl="0" eaLnBrk="1" latinLnBrk="0" hangingPunct="1">
        <a:spcBef>
          <a:spcPct val="20000"/>
        </a:spcBef>
        <a:spcAft>
          <a:spcPts val="9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685800" rtl="0" eaLnBrk="1" latinLnBrk="0" hangingPunct="1">
        <a:defRPr sz="2700" kern="1200">
          <a:solidFill>
            <a:schemeClr val="tx1"/>
          </a:solidFill>
          <a:latin typeface="+mn-lt"/>
          <a:ea typeface="+mn-ea"/>
          <a:cs typeface="+mn-cs"/>
        </a:defRPr>
      </a:lvl1pPr>
      <a:lvl2pPr marL="685800" algn="l" defTabSz="685800" rtl="0" eaLnBrk="1" latinLnBrk="0" hangingPunct="1">
        <a:defRPr sz="2700" kern="1200">
          <a:solidFill>
            <a:schemeClr val="tx1"/>
          </a:solidFill>
          <a:latin typeface="+mn-lt"/>
          <a:ea typeface="+mn-ea"/>
          <a:cs typeface="+mn-cs"/>
        </a:defRPr>
      </a:lvl2pPr>
      <a:lvl3pPr marL="1371600" algn="l" defTabSz="685800" rtl="0" eaLnBrk="1" latinLnBrk="0" hangingPunct="1">
        <a:defRPr sz="2700" kern="1200">
          <a:solidFill>
            <a:schemeClr val="tx1"/>
          </a:solidFill>
          <a:latin typeface="+mn-lt"/>
          <a:ea typeface="+mn-ea"/>
          <a:cs typeface="+mn-cs"/>
        </a:defRPr>
      </a:lvl3pPr>
      <a:lvl4pPr marL="2057400" algn="l" defTabSz="685800" rtl="0" eaLnBrk="1" latinLnBrk="0" hangingPunct="1">
        <a:defRPr sz="2700" kern="1200">
          <a:solidFill>
            <a:schemeClr val="tx1"/>
          </a:solidFill>
          <a:latin typeface="+mn-lt"/>
          <a:ea typeface="+mn-ea"/>
          <a:cs typeface="+mn-cs"/>
        </a:defRPr>
      </a:lvl4pPr>
      <a:lvl5pPr marL="2743200" algn="l" defTabSz="685800" rtl="0" eaLnBrk="1" latinLnBrk="0" hangingPunct="1">
        <a:defRPr sz="2700" kern="1200">
          <a:solidFill>
            <a:schemeClr val="tx1"/>
          </a:solidFill>
          <a:latin typeface="+mn-lt"/>
          <a:ea typeface="+mn-ea"/>
          <a:cs typeface="+mn-cs"/>
        </a:defRPr>
      </a:lvl5pPr>
      <a:lvl6pPr marL="3429000" algn="l" defTabSz="685800" rtl="0" eaLnBrk="1" latinLnBrk="0" hangingPunct="1">
        <a:defRPr sz="2700" kern="1200">
          <a:solidFill>
            <a:schemeClr val="tx1"/>
          </a:solidFill>
          <a:latin typeface="+mn-lt"/>
          <a:ea typeface="+mn-ea"/>
          <a:cs typeface="+mn-cs"/>
        </a:defRPr>
      </a:lvl6pPr>
      <a:lvl7pPr marL="4114800" algn="l" defTabSz="685800" rtl="0" eaLnBrk="1" latinLnBrk="0" hangingPunct="1">
        <a:defRPr sz="2700" kern="1200">
          <a:solidFill>
            <a:schemeClr val="tx1"/>
          </a:solidFill>
          <a:latin typeface="+mn-lt"/>
          <a:ea typeface="+mn-ea"/>
          <a:cs typeface="+mn-cs"/>
        </a:defRPr>
      </a:lvl7pPr>
      <a:lvl8pPr marL="4800600" algn="l" defTabSz="685800" rtl="0" eaLnBrk="1" latinLnBrk="0" hangingPunct="1">
        <a:defRPr sz="2700" kern="1200">
          <a:solidFill>
            <a:schemeClr val="tx1"/>
          </a:solidFill>
          <a:latin typeface="+mn-lt"/>
          <a:ea typeface="+mn-ea"/>
          <a:cs typeface="+mn-cs"/>
        </a:defRPr>
      </a:lvl8pPr>
      <a:lvl9pPr marL="5486400" algn="l" defTabSz="6858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8D82"/>
        </a:solidFill>
        <a:effectLst/>
      </p:bgPr>
    </p:bg>
    <p:spTree>
      <p:nvGrpSpPr>
        <p:cNvPr id="1" name=""/>
        <p:cNvGrpSpPr/>
        <p:nvPr/>
      </p:nvGrpSpPr>
      <p:grpSpPr>
        <a:xfrm>
          <a:off x="0" y="0"/>
          <a:ext cx="0" cy="0"/>
          <a:chOff x="0" y="0"/>
          <a:chExt cx="0" cy="0"/>
        </a:xfrm>
      </p:grpSpPr>
      <p:grpSp>
        <p:nvGrpSpPr>
          <p:cNvPr id="2" name="Group 2"/>
          <p:cNvGrpSpPr/>
          <p:nvPr/>
        </p:nvGrpSpPr>
        <p:grpSpPr>
          <a:xfrm>
            <a:off x="880681" y="2439485"/>
            <a:ext cx="11904963" cy="3843699"/>
            <a:chOff x="0" y="0"/>
            <a:chExt cx="15873284" cy="5124932"/>
          </a:xfrm>
        </p:grpSpPr>
        <p:sp>
          <p:nvSpPr>
            <p:cNvPr id="3" name="TextBox 3"/>
            <p:cNvSpPr txBox="1"/>
            <p:nvPr/>
          </p:nvSpPr>
          <p:spPr>
            <a:xfrm>
              <a:off x="12700" y="190500"/>
              <a:ext cx="15860584" cy="3973407"/>
            </a:xfrm>
            <a:prstGeom prst="rect">
              <a:avLst/>
            </a:prstGeom>
          </p:spPr>
          <p:txBody>
            <a:bodyPr lIns="0" tIns="0" rIns="0" bIns="0" rtlCol="0" anchor="t">
              <a:spAutoFit/>
            </a:bodyPr>
            <a:lstStyle/>
            <a:p>
              <a:pPr algn="l">
                <a:lnSpc>
                  <a:spcPts val="11200"/>
                </a:lnSpc>
              </a:pPr>
              <a:r>
                <a:rPr lang="en-US" sz="11200" b="1" dirty="0">
                  <a:solidFill>
                    <a:srgbClr val="FFFFFF"/>
                  </a:solidFill>
                  <a:latin typeface="Play Bold"/>
                  <a:ea typeface="Play Bold"/>
                  <a:cs typeface="Play Bold"/>
                  <a:sym typeface="Play Bold"/>
                </a:rPr>
                <a:t>NETFLIX VISUALISATION</a:t>
              </a:r>
            </a:p>
          </p:txBody>
        </p:sp>
        <p:sp>
          <p:nvSpPr>
            <p:cNvPr id="4" name="TextBox 4"/>
            <p:cNvSpPr txBox="1"/>
            <p:nvPr/>
          </p:nvSpPr>
          <p:spPr>
            <a:xfrm>
              <a:off x="0" y="4385791"/>
              <a:ext cx="14552117" cy="739140"/>
            </a:xfrm>
            <a:prstGeom prst="rect">
              <a:avLst/>
            </a:prstGeom>
          </p:spPr>
          <p:txBody>
            <a:bodyPr lIns="0" tIns="0" rIns="0" bIns="0" rtlCol="0" anchor="t">
              <a:spAutoFit/>
            </a:bodyPr>
            <a:lstStyle/>
            <a:p>
              <a:pPr marL="0" lvl="0" indent="0" algn="l">
                <a:lnSpc>
                  <a:spcPts val="4619"/>
                </a:lnSpc>
                <a:spcBef>
                  <a:spcPct val="0"/>
                </a:spcBef>
              </a:pPr>
              <a:r>
                <a:rPr lang="en-US" sz="3299" dirty="0" err="1">
                  <a:solidFill>
                    <a:srgbClr val="FFFFFF"/>
                  </a:solidFill>
                  <a:latin typeface="Play"/>
                  <a:ea typeface="Play"/>
                  <a:cs typeface="Play"/>
                  <a:sym typeface="Play"/>
                </a:rPr>
                <a:t>indepth</a:t>
              </a:r>
              <a:r>
                <a:rPr lang="en-US" sz="3299" dirty="0">
                  <a:solidFill>
                    <a:srgbClr val="FFFFFF"/>
                  </a:solidFill>
                  <a:latin typeface="Play"/>
                  <a:ea typeface="Play"/>
                  <a:cs typeface="Play"/>
                  <a:sym typeface="Play"/>
                </a:rPr>
                <a:t> Learning for finding the trends across</a:t>
              </a:r>
            </a:p>
          </p:txBody>
        </p:sp>
      </p:grpSp>
      <p:sp>
        <p:nvSpPr>
          <p:cNvPr id="5" name="Freeform 5">
            <a:extLst>
              <a:ext uri="{C183D7F6-B498-43B3-948B-1728B52AA6E4}">
                <adec:decorative xmlns:adec="http://schemas.microsoft.com/office/drawing/2017/decorative" xmlns="" val="1"/>
              </a:ext>
            </a:extLst>
          </p:cNvPr>
          <p:cNvSpPr/>
          <p:nvPr/>
        </p:nvSpPr>
        <p:spPr>
          <a:xfrm>
            <a:off x="13182600" y="1841363"/>
            <a:ext cx="7504400" cy="7569337"/>
          </a:xfrm>
          <a:custGeom>
            <a:avLst/>
            <a:gdLst/>
            <a:ahLst/>
            <a:cxnLst/>
            <a:rect l="l" t="t" r="r" b="b"/>
            <a:pathLst>
              <a:path w="6576000" h="6824151">
                <a:moveTo>
                  <a:pt x="0" y="0"/>
                </a:moveTo>
                <a:lnTo>
                  <a:pt x="6576000" y="0"/>
                </a:lnTo>
                <a:lnTo>
                  <a:pt x="6576000" y="6824152"/>
                </a:lnTo>
                <a:lnTo>
                  <a:pt x="0" y="6824152"/>
                </a:lnTo>
                <a:lnTo>
                  <a:pt x="0" y="0"/>
                </a:lnTo>
                <a:close/>
              </a:path>
            </a:pathLst>
          </a:custGeom>
          <a:blipFill>
            <a:blip r:embed="rId3">
              <a:extLst>
                <a:ext uri="{96DAC541-7B7A-43D3-8B79-37D633B846F1}">
                  <asvg:svgBlip xmlns:asvg="http://schemas.microsoft.com/office/drawing/2016/SVG/main" xmlns="" r:embed="rId4"/>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2212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2951475" y="1216011"/>
            <a:ext cx="7960351" cy="7685357"/>
          </a:xfrm>
          <a:custGeom>
            <a:avLst/>
            <a:gdLst/>
            <a:ahLst/>
            <a:cxnLst/>
            <a:rect l="l" t="t" r="r" b="b"/>
            <a:pathLst>
              <a:path w="7960351" h="7685357">
                <a:moveTo>
                  <a:pt x="0" y="0"/>
                </a:moveTo>
                <a:lnTo>
                  <a:pt x="7960350" y="0"/>
                </a:lnTo>
                <a:lnTo>
                  <a:pt x="7960350" y="7685357"/>
                </a:lnTo>
                <a:lnTo>
                  <a:pt x="0" y="768535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6781800" y="2552700"/>
            <a:ext cx="10363200" cy="6507359"/>
          </a:xfrm>
          <a:prstGeom prst="rect">
            <a:avLst/>
          </a:prstGeom>
        </p:spPr>
        <p:txBody>
          <a:bodyPr wrap="square" lIns="0" tIns="0" rIns="0" bIns="0" rtlCol="0" anchor="t">
            <a:spAutoFit/>
          </a:bodyPr>
          <a:lstStyle/>
          <a:p>
            <a:pPr marL="0" lvl="0" indent="0" algn="l">
              <a:lnSpc>
                <a:spcPts val="3380"/>
              </a:lnSpc>
            </a:pPr>
            <a:endParaRPr sz="2600" dirty="0">
              <a:latin typeface="+mj-lt"/>
            </a:endParaRPr>
          </a:p>
          <a:p>
            <a:pPr marL="561342" lvl="1" indent="-280671" algn="l">
              <a:lnSpc>
                <a:spcPts val="3380"/>
              </a:lnSpc>
              <a:buAutoNum type="arabicPeriod"/>
            </a:pPr>
            <a:r>
              <a:rPr lang="en-US" sz="2600" dirty="0">
                <a:solidFill>
                  <a:srgbClr val="FFFFFF"/>
                </a:solidFill>
                <a:latin typeface="+mj-lt"/>
                <a:ea typeface="Play"/>
                <a:cs typeface="Play"/>
                <a:sym typeface="Play"/>
              </a:rPr>
              <a:t>Project Overview</a:t>
            </a:r>
          </a:p>
          <a:p>
            <a:pPr marL="561342" lvl="1" indent="-280671" algn="l">
              <a:lnSpc>
                <a:spcPts val="3380"/>
              </a:lnSpc>
              <a:buAutoNum type="arabicPeriod"/>
            </a:pPr>
            <a:r>
              <a:rPr lang="en-US" sz="2600" dirty="0">
                <a:solidFill>
                  <a:srgbClr val="FFFFFF"/>
                </a:solidFill>
                <a:latin typeface="+mj-lt"/>
                <a:ea typeface="Play"/>
                <a:cs typeface="Play"/>
                <a:sym typeface="Play"/>
              </a:rPr>
              <a:t>Data view and Key Insights</a:t>
            </a:r>
          </a:p>
          <a:p>
            <a:pPr marL="561342" lvl="1" indent="-280671" algn="l">
              <a:lnSpc>
                <a:spcPts val="3380"/>
              </a:lnSpc>
              <a:buAutoNum type="arabicPeriod"/>
            </a:pPr>
            <a:r>
              <a:rPr lang="en-US" sz="2600" dirty="0">
                <a:solidFill>
                  <a:srgbClr val="FFFFFF"/>
                </a:solidFill>
                <a:latin typeface="+mj-lt"/>
                <a:ea typeface="Play"/>
                <a:cs typeface="Play"/>
                <a:sym typeface="Play"/>
              </a:rPr>
              <a:t>Methodology</a:t>
            </a:r>
          </a:p>
          <a:p>
            <a:pPr marL="561342" lvl="1" indent="-280671" algn="l">
              <a:lnSpc>
                <a:spcPts val="3380"/>
              </a:lnSpc>
              <a:buAutoNum type="arabicPeriod"/>
            </a:pPr>
            <a:r>
              <a:rPr lang="en-US" sz="2600" dirty="0">
                <a:solidFill>
                  <a:srgbClr val="FFFFFF"/>
                </a:solidFill>
                <a:latin typeface="+mj-lt"/>
                <a:ea typeface="Play"/>
                <a:cs typeface="Play"/>
                <a:sym typeface="Play"/>
              </a:rPr>
              <a:t>Exploratory Data Analysis</a:t>
            </a:r>
          </a:p>
          <a:p>
            <a:pPr marL="561342" lvl="1" indent="-280671" algn="l">
              <a:lnSpc>
                <a:spcPts val="3380"/>
              </a:lnSpc>
              <a:buAutoNum type="arabicPeriod"/>
            </a:pPr>
            <a:r>
              <a:rPr lang="en-US" sz="2600" dirty="0">
                <a:solidFill>
                  <a:srgbClr val="FFFFFF"/>
                </a:solidFill>
                <a:latin typeface="+mj-lt"/>
                <a:ea typeface="Play"/>
                <a:cs typeface="Play"/>
                <a:sym typeface="Play"/>
              </a:rPr>
              <a:t>Visualization</a:t>
            </a:r>
          </a:p>
          <a:p>
            <a:pPr marL="561342" lvl="1" indent="-280671" algn="l">
              <a:lnSpc>
                <a:spcPts val="3380"/>
              </a:lnSpc>
              <a:buAutoNum type="arabicPeriod"/>
            </a:pPr>
            <a:r>
              <a:rPr lang="en-US" sz="2600" dirty="0">
                <a:solidFill>
                  <a:srgbClr val="FFFFFF"/>
                </a:solidFill>
                <a:latin typeface="+mj-lt"/>
                <a:ea typeface="Play"/>
                <a:cs typeface="Play"/>
                <a:sym typeface="Play"/>
              </a:rPr>
              <a:t>Data Preprocessing</a:t>
            </a:r>
          </a:p>
          <a:p>
            <a:pPr marL="561342" lvl="1" indent="-280671" algn="l">
              <a:lnSpc>
                <a:spcPts val="3380"/>
              </a:lnSpc>
              <a:buAutoNum type="arabicPeriod"/>
            </a:pPr>
            <a:r>
              <a:rPr lang="en-US" sz="2600" dirty="0">
                <a:solidFill>
                  <a:srgbClr val="FFFFFF"/>
                </a:solidFill>
                <a:latin typeface="+mj-lt"/>
                <a:ea typeface="Play"/>
                <a:cs typeface="Play"/>
                <a:sym typeface="Play"/>
              </a:rPr>
              <a:t>Feature Extraction</a:t>
            </a:r>
          </a:p>
          <a:p>
            <a:pPr marL="561342" lvl="1" indent="-280671" algn="l">
              <a:lnSpc>
                <a:spcPts val="3380"/>
              </a:lnSpc>
              <a:buAutoNum type="arabicPeriod"/>
            </a:pPr>
            <a:r>
              <a:rPr lang="en-US" sz="2600" dirty="0">
                <a:solidFill>
                  <a:srgbClr val="FFFFFF"/>
                </a:solidFill>
                <a:latin typeface="+mj-lt"/>
                <a:ea typeface="Play"/>
                <a:cs typeface="Play"/>
                <a:sym typeface="Play"/>
              </a:rPr>
              <a:t>Model Architecture</a:t>
            </a:r>
          </a:p>
          <a:p>
            <a:pPr marL="561342" lvl="1" indent="-280671" algn="l">
              <a:lnSpc>
                <a:spcPts val="3380"/>
              </a:lnSpc>
              <a:buAutoNum type="arabicPeriod"/>
            </a:pPr>
            <a:r>
              <a:rPr lang="en-US" sz="2600" dirty="0">
                <a:solidFill>
                  <a:srgbClr val="FFFFFF"/>
                </a:solidFill>
                <a:latin typeface="+mj-lt"/>
                <a:ea typeface="Play"/>
                <a:cs typeface="Play"/>
                <a:sym typeface="Play"/>
              </a:rPr>
              <a:t>Training and Evaluation</a:t>
            </a:r>
          </a:p>
          <a:p>
            <a:pPr marL="561342" lvl="1" indent="-280671" algn="l">
              <a:lnSpc>
                <a:spcPts val="3380"/>
              </a:lnSpc>
              <a:buAutoNum type="arabicPeriod"/>
            </a:pPr>
            <a:r>
              <a:rPr lang="en-US" sz="2600" dirty="0">
                <a:solidFill>
                  <a:srgbClr val="FFFFFF"/>
                </a:solidFill>
                <a:latin typeface="+mj-lt"/>
                <a:ea typeface="Play"/>
                <a:cs typeface="Play"/>
                <a:sym typeface="Play"/>
              </a:rPr>
              <a:t>Results</a:t>
            </a:r>
          </a:p>
          <a:p>
            <a:pPr marL="561342" lvl="1" indent="-280671" algn="l">
              <a:lnSpc>
                <a:spcPts val="3380"/>
              </a:lnSpc>
              <a:buAutoNum type="arabicPeriod"/>
            </a:pPr>
            <a:r>
              <a:rPr lang="en-US" sz="2600" dirty="0">
                <a:solidFill>
                  <a:srgbClr val="FFFFFF"/>
                </a:solidFill>
                <a:latin typeface="+mj-lt"/>
                <a:ea typeface="Play"/>
                <a:cs typeface="Play"/>
                <a:sym typeface="Play"/>
              </a:rPr>
              <a:t>User Interface</a:t>
            </a:r>
          </a:p>
          <a:p>
            <a:pPr marL="561342" lvl="1" indent="-280671" algn="l">
              <a:lnSpc>
                <a:spcPts val="3380"/>
              </a:lnSpc>
              <a:buAutoNum type="arabicPeriod"/>
            </a:pPr>
            <a:r>
              <a:rPr lang="en-US" sz="2600" dirty="0">
                <a:solidFill>
                  <a:srgbClr val="FFFFFF"/>
                </a:solidFill>
                <a:latin typeface="+mj-lt"/>
                <a:ea typeface="Play"/>
                <a:cs typeface="Play"/>
                <a:sym typeface="Play"/>
              </a:rPr>
              <a:t>Challenge</a:t>
            </a:r>
          </a:p>
          <a:p>
            <a:pPr marL="561342" lvl="1" indent="-280671" algn="l">
              <a:lnSpc>
                <a:spcPts val="3380"/>
              </a:lnSpc>
              <a:buAutoNum type="arabicPeriod"/>
            </a:pPr>
            <a:r>
              <a:rPr lang="en-US" sz="2600" dirty="0">
                <a:solidFill>
                  <a:srgbClr val="FFFFFF"/>
                </a:solidFill>
                <a:latin typeface="+mj-lt"/>
                <a:ea typeface="Play"/>
                <a:cs typeface="Play"/>
                <a:sym typeface="Play"/>
              </a:rPr>
              <a:t>Future Scope</a:t>
            </a:r>
          </a:p>
          <a:p>
            <a:pPr algn="l">
              <a:lnSpc>
                <a:spcPts val="3380"/>
              </a:lnSpc>
            </a:pPr>
            <a:r>
              <a:rPr lang="en-US" sz="2600" dirty="0">
                <a:solidFill>
                  <a:srgbClr val="FFFFFF"/>
                </a:solidFill>
                <a:latin typeface="+mj-lt"/>
                <a:ea typeface="Play"/>
                <a:cs typeface="Play"/>
                <a:sym typeface="Play"/>
              </a:rPr>
              <a:t>    14.Conclusion</a:t>
            </a:r>
          </a:p>
        </p:txBody>
      </p:sp>
      <p:sp>
        <p:nvSpPr>
          <p:cNvPr id="4" name="TextBox 4"/>
          <p:cNvSpPr txBox="1"/>
          <p:nvPr/>
        </p:nvSpPr>
        <p:spPr>
          <a:xfrm>
            <a:off x="6630197" y="1009650"/>
            <a:ext cx="9247609" cy="1221553"/>
          </a:xfrm>
          <a:prstGeom prst="rect">
            <a:avLst/>
          </a:prstGeom>
        </p:spPr>
        <p:txBody>
          <a:bodyPr lIns="0" tIns="0" rIns="0" bIns="0" rtlCol="0" anchor="t">
            <a:spAutoFit/>
          </a:bodyPr>
          <a:lstStyle/>
          <a:p>
            <a:pPr algn="l">
              <a:lnSpc>
                <a:spcPts val="10800"/>
              </a:lnSpc>
            </a:pPr>
            <a:r>
              <a:rPr lang="en-US" sz="6000" b="1" dirty="0">
                <a:solidFill>
                  <a:srgbClr val="FFFFFF"/>
                </a:solidFill>
                <a:latin typeface="+mj-lt"/>
                <a:ea typeface="Play Bold"/>
                <a:cs typeface="Play Bold"/>
                <a:sym typeface="Play Bold"/>
              </a:rPr>
              <a:t>TABLE OF 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22121"/>
        </a:solidFill>
        <a:effectLst/>
      </p:bgPr>
    </p:bg>
    <p:spTree>
      <p:nvGrpSpPr>
        <p:cNvPr id="1" name=""/>
        <p:cNvGrpSpPr/>
        <p:nvPr/>
      </p:nvGrpSpPr>
      <p:grpSpPr>
        <a:xfrm>
          <a:off x="0" y="0"/>
          <a:ext cx="0" cy="0"/>
          <a:chOff x="0" y="0"/>
          <a:chExt cx="0" cy="0"/>
        </a:xfrm>
      </p:grpSpPr>
      <p:sp>
        <p:nvSpPr>
          <p:cNvPr id="2" name="Freeform 2">
            <a:extLst>
              <a:ext uri="{C183D7F6-B498-43B3-948B-1728B52AA6E4}">
                <adec:decorative xmlns:adec="http://schemas.microsoft.com/office/drawing/2017/decorative" xmlns="" val="1"/>
              </a:ext>
            </a:extLst>
          </p:cNvPr>
          <p:cNvSpPr/>
          <p:nvPr/>
        </p:nvSpPr>
        <p:spPr>
          <a:xfrm>
            <a:off x="-2951475" y="1216011"/>
            <a:ext cx="7599675" cy="6213489"/>
          </a:xfrm>
          <a:custGeom>
            <a:avLst/>
            <a:gdLst/>
            <a:ahLst/>
            <a:cxnLst/>
            <a:rect l="l" t="t" r="r" b="b"/>
            <a:pathLst>
              <a:path w="7960351" h="7685357">
                <a:moveTo>
                  <a:pt x="0" y="0"/>
                </a:moveTo>
                <a:lnTo>
                  <a:pt x="7960350" y="0"/>
                </a:lnTo>
                <a:lnTo>
                  <a:pt x="7960350" y="7685357"/>
                </a:lnTo>
                <a:lnTo>
                  <a:pt x="0" y="7685357"/>
                </a:lnTo>
                <a:lnTo>
                  <a:pt x="0" y="0"/>
                </a:lnTo>
                <a:close/>
              </a:path>
            </a:pathLst>
          </a:custGeom>
          <a:blipFill>
            <a:blip r:embed="rId2">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6805191" y="2368536"/>
            <a:ext cx="7261605" cy="3452612"/>
          </a:xfrm>
          <a:prstGeom prst="rect">
            <a:avLst/>
          </a:prstGeom>
        </p:spPr>
        <p:txBody>
          <a:bodyPr lIns="0" tIns="0" rIns="0" bIns="0" rtlCol="0" anchor="t">
            <a:spAutoFit/>
          </a:bodyPr>
          <a:lstStyle/>
          <a:p>
            <a:pPr algn="l">
              <a:lnSpc>
                <a:spcPts val="3380"/>
              </a:lnSpc>
            </a:pPr>
            <a:r>
              <a:rPr lang="en-US" sz="2400" dirty="0">
                <a:solidFill>
                  <a:srgbClr val="FFFFFF"/>
                </a:solidFill>
                <a:latin typeface="+mj-lt"/>
                <a:ea typeface="Play"/>
                <a:cs typeface="Play"/>
                <a:sym typeface="Play"/>
              </a:rPr>
              <a:t>Objective: </a:t>
            </a:r>
            <a:endParaRPr lang="en-US" sz="2400" dirty="0" smtClean="0">
              <a:solidFill>
                <a:srgbClr val="FFFFFF"/>
              </a:solidFill>
              <a:latin typeface="+mj-lt"/>
              <a:ea typeface="Play"/>
              <a:cs typeface="Play"/>
              <a:sym typeface="Play"/>
            </a:endParaRPr>
          </a:p>
          <a:p>
            <a:pPr algn="l">
              <a:lnSpc>
                <a:spcPts val="3380"/>
              </a:lnSpc>
            </a:pPr>
            <a:r>
              <a:rPr lang="en-US" sz="2400" dirty="0" smtClean="0">
                <a:solidFill>
                  <a:srgbClr val="FFFFFF"/>
                </a:solidFill>
                <a:latin typeface="+mj-lt"/>
                <a:ea typeface="Play"/>
                <a:cs typeface="Play"/>
                <a:sym typeface="Play"/>
              </a:rPr>
              <a:t>To </a:t>
            </a:r>
            <a:r>
              <a:rPr lang="en-US" sz="2400" dirty="0">
                <a:solidFill>
                  <a:srgbClr val="FFFFFF"/>
                </a:solidFill>
                <a:latin typeface="+mj-lt"/>
                <a:ea typeface="Play"/>
                <a:cs typeface="Play"/>
                <a:sym typeface="Play"/>
              </a:rPr>
              <a:t>create a data-driven system that analyzes Netflix’s content catalog utilizing the </a:t>
            </a:r>
            <a:r>
              <a:rPr lang="en-US" sz="2400" dirty="0" err="1">
                <a:solidFill>
                  <a:srgbClr val="FFFFFF"/>
                </a:solidFill>
                <a:latin typeface="+mj-lt"/>
                <a:ea typeface="Play"/>
                <a:cs typeface="Play"/>
                <a:sym typeface="Play"/>
              </a:rPr>
              <a:t>Kaggle</a:t>
            </a:r>
            <a:r>
              <a:rPr lang="en-US" sz="2400" dirty="0">
                <a:solidFill>
                  <a:srgbClr val="FFFFFF"/>
                </a:solidFill>
                <a:latin typeface="+mj-lt"/>
                <a:ea typeface="Play"/>
                <a:cs typeface="Play"/>
                <a:sym typeface="Play"/>
              </a:rPr>
              <a:t> Netflix Movies and TV Shows dataset. The project's goal is to identify trends in Netflix’s expansion strategy, the balance between original and licensed content, genre popularity, and preferences across global markets using solely this dataset.</a:t>
            </a:r>
          </a:p>
        </p:txBody>
      </p:sp>
      <p:sp>
        <p:nvSpPr>
          <p:cNvPr id="4" name="TextBox 4"/>
          <p:cNvSpPr txBox="1"/>
          <p:nvPr/>
        </p:nvSpPr>
        <p:spPr>
          <a:xfrm>
            <a:off x="6805191" y="34911"/>
            <a:ext cx="9247609" cy="1086901"/>
          </a:xfrm>
          <a:prstGeom prst="rect">
            <a:avLst/>
          </a:prstGeom>
        </p:spPr>
        <p:txBody>
          <a:bodyPr lIns="0" tIns="0" rIns="0" bIns="0" rtlCol="0" anchor="t">
            <a:spAutoFit/>
          </a:bodyPr>
          <a:lstStyle/>
          <a:p>
            <a:pPr algn="l">
              <a:lnSpc>
                <a:spcPts val="9360"/>
              </a:lnSpc>
            </a:pPr>
            <a:r>
              <a:rPr lang="en-US" sz="6000" b="1" dirty="0" smtClean="0">
                <a:solidFill>
                  <a:srgbClr val="FFFFFF"/>
                </a:solidFill>
                <a:latin typeface="+mj-lt"/>
                <a:ea typeface="Play Bold"/>
                <a:cs typeface="Play Bold"/>
                <a:sym typeface="Play Bold"/>
              </a:rPr>
              <a:t>PROJECT OVERVIEW</a:t>
            </a:r>
            <a:endParaRPr lang="en-US" sz="6000" b="1" dirty="0">
              <a:solidFill>
                <a:srgbClr val="FFFFFF"/>
              </a:solidFill>
              <a:latin typeface="+mj-lt"/>
              <a:ea typeface="Play Bold"/>
              <a:cs typeface="Play Bold"/>
              <a:sym typeface="Play Bold"/>
            </a:endParaRPr>
          </a:p>
        </p:txBody>
      </p:sp>
      <p:sp>
        <p:nvSpPr>
          <p:cNvPr id="5" name="TextBox 5"/>
          <p:cNvSpPr txBox="1"/>
          <p:nvPr/>
        </p:nvSpPr>
        <p:spPr>
          <a:xfrm>
            <a:off x="6805191" y="6182472"/>
            <a:ext cx="11482809" cy="2652008"/>
          </a:xfrm>
          <a:prstGeom prst="rect">
            <a:avLst/>
          </a:prstGeom>
        </p:spPr>
        <p:txBody>
          <a:bodyPr lIns="0" tIns="0" rIns="0" bIns="0" rtlCol="0" anchor="t">
            <a:spAutoFit/>
          </a:bodyPr>
          <a:lstStyle/>
          <a:p>
            <a:r>
              <a:rPr lang="en-US" sz="2400" b="1" dirty="0"/>
              <a:t>Outcomes</a:t>
            </a:r>
            <a:r>
              <a:rPr lang="en-US" sz="2400" b="1" dirty="0" smtClean="0"/>
              <a:t>:</a:t>
            </a:r>
          </a:p>
          <a:p>
            <a:endParaRPr lang="en-US" sz="2400" b="1" dirty="0"/>
          </a:p>
          <a:p>
            <a:r>
              <a:rPr lang="en-US" sz="2400" dirty="0"/>
              <a:t>• Performed data preprocessing and feature engineering on real-world data</a:t>
            </a:r>
            <a:br>
              <a:rPr lang="en-US" sz="2400" dirty="0"/>
            </a:br>
            <a:r>
              <a:rPr lang="en-US" sz="2400" dirty="0"/>
              <a:t>• Conducted Exploratory Data Analysis (EDA) to discover key insights</a:t>
            </a:r>
            <a:br>
              <a:rPr lang="en-US" sz="2400" dirty="0"/>
            </a:br>
            <a:r>
              <a:rPr lang="en-US" sz="2400" dirty="0"/>
              <a:t>• Applied machine learning models for classification</a:t>
            </a:r>
            <a:br>
              <a:rPr lang="en-US" sz="2400" dirty="0"/>
            </a:br>
            <a:r>
              <a:rPr lang="en-US" sz="2400" dirty="0"/>
              <a:t>• Built an interactive dashboard for visualization and insights</a:t>
            </a:r>
          </a:p>
          <a:p>
            <a:pPr marL="0" lvl="0" indent="0" algn="l">
              <a:lnSpc>
                <a:spcPts val="3380"/>
              </a:lnSpc>
              <a:spcBef>
                <a:spcPct val="0"/>
              </a:spcBef>
            </a:pPr>
            <a:endParaRPr lang="en-US" sz="2400" u="none" strike="noStrike" dirty="0">
              <a:solidFill>
                <a:srgbClr val="FFFFFF"/>
              </a:solidFill>
              <a:latin typeface="+mj-lt"/>
              <a:ea typeface="Play"/>
              <a:cs typeface="Play"/>
              <a:sym typeface="Pl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22121"/>
        </a:solidFill>
        <a:effectLst/>
      </p:bgPr>
    </p:bg>
    <p:spTree>
      <p:nvGrpSpPr>
        <p:cNvPr id="1" name=""/>
        <p:cNvGrpSpPr/>
        <p:nvPr/>
      </p:nvGrpSpPr>
      <p:grpSpPr>
        <a:xfrm>
          <a:off x="0" y="0"/>
          <a:ext cx="0" cy="0"/>
          <a:chOff x="0" y="0"/>
          <a:chExt cx="0" cy="0"/>
        </a:xfrm>
      </p:grpSpPr>
      <p:sp>
        <p:nvSpPr>
          <p:cNvPr id="2" name="TextBox 2"/>
          <p:cNvSpPr txBox="1"/>
          <p:nvPr/>
        </p:nvSpPr>
        <p:spPr>
          <a:xfrm>
            <a:off x="1828800" y="342900"/>
            <a:ext cx="14034283" cy="1305678"/>
          </a:xfrm>
          <a:prstGeom prst="rect">
            <a:avLst/>
          </a:prstGeom>
        </p:spPr>
        <p:txBody>
          <a:bodyPr wrap="square" lIns="0" tIns="0" rIns="0" bIns="0" rtlCol="0" anchor="t">
            <a:spAutoFit/>
          </a:bodyPr>
          <a:lstStyle/>
          <a:p>
            <a:pPr algn="ctr">
              <a:lnSpc>
                <a:spcPts val="5040"/>
              </a:lnSpc>
              <a:spcBef>
                <a:spcPct val="0"/>
              </a:spcBef>
            </a:pPr>
            <a:r>
              <a:rPr lang="en-US" sz="6000" b="1" dirty="0">
                <a:solidFill>
                  <a:srgbClr val="FFFFFF"/>
                </a:solidFill>
                <a:latin typeface="+mj-lt"/>
                <a:ea typeface="Play Bold"/>
                <a:cs typeface="Play Bold"/>
                <a:sym typeface="Play Bold"/>
              </a:rPr>
              <a:t>DATASET OVERVIEW AND KEY </a:t>
            </a:r>
            <a:r>
              <a:rPr lang="en-US" sz="6000" b="1" dirty="0" smtClean="0">
                <a:solidFill>
                  <a:srgbClr val="FFFFFF"/>
                </a:solidFill>
                <a:latin typeface="+mj-lt"/>
                <a:ea typeface="Play Bold"/>
                <a:cs typeface="Play Bold"/>
                <a:sym typeface="Play Bold"/>
              </a:rPr>
              <a:t>INSIGHTS</a:t>
            </a:r>
          </a:p>
        </p:txBody>
      </p:sp>
      <p:sp>
        <p:nvSpPr>
          <p:cNvPr id="5" name="TextBox 5"/>
          <p:cNvSpPr txBox="1"/>
          <p:nvPr/>
        </p:nvSpPr>
        <p:spPr>
          <a:xfrm>
            <a:off x="3048000" y="5372100"/>
            <a:ext cx="11376779" cy="556947"/>
          </a:xfrm>
          <a:prstGeom prst="rect">
            <a:avLst/>
          </a:prstGeom>
        </p:spPr>
        <p:txBody>
          <a:bodyPr lIns="0" tIns="0" rIns="0" bIns="0" rtlCol="0" anchor="t">
            <a:spAutoFit/>
          </a:bodyPr>
          <a:lstStyle/>
          <a:p>
            <a:pPr algn="l">
              <a:lnSpc>
                <a:spcPts val="4927"/>
              </a:lnSpc>
              <a:spcBef>
                <a:spcPct val="0"/>
              </a:spcBef>
            </a:pPr>
            <a:endParaRPr lang="en-US" sz="2800" dirty="0">
              <a:solidFill>
                <a:srgbClr val="FFFFFF"/>
              </a:solidFill>
              <a:latin typeface="+mj-lt"/>
              <a:ea typeface="Play Bold"/>
              <a:cs typeface="Play Bold"/>
              <a:sym typeface="Play Bold"/>
            </a:endParaRPr>
          </a:p>
        </p:txBody>
      </p:sp>
      <p:sp>
        <p:nvSpPr>
          <p:cNvPr id="6" name="TextBox 6"/>
          <p:cNvSpPr txBox="1"/>
          <p:nvPr/>
        </p:nvSpPr>
        <p:spPr>
          <a:xfrm>
            <a:off x="768741" y="5673433"/>
            <a:ext cx="8077200" cy="641201"/>
          </a:xfrm>
          <a:prstGeom prst="rect">
            <a:avLst/>
          </a:prstGeom>
        </p:spPr>
        <p:txBody>
          <a:bodyPr wrap="square" lIns="0" tIns="0" rIns="0" bIns="0" rtlCol="0" anchor="t">
            <a:spAutoFit/>
          </a:bodyPr>
          <a:lstStyle/>
          <a:p>
            <a:pPr marL="0" lvl="0" indent="0" algn="ctr">
              <a:lnSpc>
                <a:spcPts val="5040"/>
              </a:lnSpc>
              <a:spcBef>
                <a:spcPct val="0"/>
              </a:spcBef>
            </a:pPr>
            <a:r>
              <a:rPr lang="en-US" sz="2800" b="1" dirty="0">
                <a:solidFill>
                  <a:srgbClr val="FFFFFF"/>
                </a:solidFill>
                <a:latin typeface="+mj-lt"/>
                <a:ea typeface="Play Bold"/>
                <a:cs typeface="Play Bold"/>
                <a:sym typeface="Play Bold"/>
              </a:rPr>
              <a:t>RE</a:t>
            </a:r>
            <a:r>
              <a:rPr lang="en-US" sz="2800" b="1" u="none" strike="noStrike" dirty="0">
                <a:solidFill>
                  <a:srgbClr val="FFFFFF"/>
                </a:solidFill>
                <a:latin typeface="+mj-lt"/>
                <a:ea typeface="Play Bold"/>
                <a:cs typeface="Play Bold"/>
                <a:sym typeface="Play Bold"/>
              </a:rPr>
              <a:t>ASON OF CHOOSING </a:t>
            </a:r>
            <a:r>
              <a:rPr lang="en-US" sz="2800" b="1" u="none" strike="noStrike" dirty="0" smtClean="0">
                <a:solidFill>
                  <a:srgbClr val="FFFFFF"/>
                </a:solidFill>
                <a:latin typeface="+mj-lt"/>
                <a:ea typeface="Play Bold"/>
                <a:cs typeface="Play Bold"/>
                <a:sym typeface="Play Bold"/>
              </a:rPr>
              <a:t>THEDATASET :</a:t>
            </a:r>
            <a:endParaRPr lang="en-US" sz="2800" b="1" u="none" strike="noStrike" dirty="0">
              <a:solidFill>
                <a:srgbClr val="FFFFFF"/>
              </a:solidFill>
              <a:latin typeface="+mj-lt"/>
              <a:ea typeface="Play Bold"/>
              <a:cs typeface="Play Bold"/>
              <a:sym typeface="Play Bold"/>
            </a:endParaRPr>
          </a:p>
        </p:txBody>
      </p:sp>
      <p:sp>
        <p:nvSpPr>
          <p:cNvPr id="14" name="TextBox 13"/>
          <p:cNvSpPr txBox="1"/>
          <p:nvPr/>
        </p:nvSpPr>
        <p:spPr>
          <a:xfrm>
            <a:off x="1143000" y="2562962"/>
            <a:ext cx="3657600" cy="523220"/>
          </a:xfrm>
          <a:prstGeom prst="rect">
            <a:avLst/>
          </a:prstGeom>
          <a:noFill/>
        </p:spPr>
        <p:txBody>
          <a:bodyPr wrap="square" rtlCol="0">
            <a:spAutoFit/>
          </a:bodyPr>
          <a:lstStyle/>
          <a:p>
            <a:r>
              <a:rPr lang="en-US" sz="2800" b="1" dirty="0"/>
              <a:t>Dataset </a:t>
            </a:r>
            <a:r>
              <a:rPr lang="en-US" sz="2800" b="1" dirty="0" smtClean="0"/>
              <a:t>Details :</a:t>
            </a:r>
          </a:p>
        </p:txBody>
      </p:sp>
      <p:sp>
        <p:nvSpPr>
          <p:cNvPr id="15" name="Rectangle 7"/>
          <p:cNvSpPr>
            <a:spLocks noChangeArrowheads="1"/>
          </p:cNvSpPr>
          <p:nvPr/>
        </p:nvSpPr>
        <p:spPr bwMode="auto">
          <a:xfrm>
            <a:off x="3307080" y="2606988"/>
            <a:ext cx="7593745" cy="2601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800" b="0" i="0" u="none" strike="noStrike" cap="none" normalizeH="0" baseline="0" dirty="0" smtClean="0">
              <a:ln>
                <a:noFill/>
              </a:ln>
              <a:solidFill>
                <a:schemeClr val="tx1"/>
              </a:solidFill>
              <a:effectLst/>
              <a:latin typeface="+mj-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mj-lt"/>
              </a:rPr>
              <a:t>Total Rows: 8807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mj-lt"/>
              </a:rPr>
              <a:t>Total </a:t>
            </a:r>
            <a:r>
              <a:rPr kumimoji="0" lang="en-US" altLang="en-US" sz="2800" b="0" i="0" u="none" strike="noStrike" cap="none" normalizeH="0" baseline="0" dirty="0" err="1" smtClean="0">
                <a:ln>
                  <a:noFill/>
                </a:ln>
                <a:solidFill>
                  <a:schemeClr val="tx1"/>
                </a:solidFill>
                <a:effectLst/>
                <a:latin typeface="+mj-lt"/>
              </a:rPr>
              <a:t>Clumns</a:t>
            </a:r>
            <a:r>
              <a:rPr kumimoji="0" lang="en-US" altLang="en-US" sz="2800" b="0" i="0" u="none" strike="noStrike" cap="none" normalizeH="0" baseline="0" dirty="0" smtClean="0">
                <a:ln>
                  <a:noFill/>
                </a:ln>
                <a:solidFill>
                  <a:schemeClr val="tx1"/>
                </a:solidFill>
                <a:effectLst/>
                <a:latin typeface="+mj-lt"/>
              </a:rPr>
              <a:t>: 12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mj-lt"/>
              </a:rPr>
              <a:t>Data Types: Text (string) and numbers (integer) </a:t>
            </a:r>
          </a:p>
        </p:txBody>
      </p:sp>
      <p:sp>
        <p:nvSpPr>
          <p:cNvPr id="16" name="Rectangle 8"/>
          <p:cNvSpPr>
            <a:spLocks noChangeArrowheads="1"/>
          </p:cNvSpPr>
          <p:nvPr/>
        </p:nvSpPr>
        <p:spPr bwMode="auto">
          <a:xfrm>
            <a:off x="3276600" y="6084801"/>
            <a:ext cx="8915400" cy="303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800" b="0" i="0" u="none" strike="noStrike" cap="none" normalizeH="0" baseline="0" dirty="0" smtClean="0">
              <a:ln>
                <a:noFill/>
              </a:ln>
              <a:solidFill>
                <a:schemeClr val="tx1"/>
              </a:solidFill>
              <a:effectLst/>
              <a:latin typeface="+mj-lt"/>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mj-lt"/>
              </a:rPr>
              <a:t>Helps us learn how to clean and prepare real-world data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mj-lt"/>
              </a:rPr>
              <a:t>Useful for performing data analysis (EDA)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mj-lt"/>
              </a:rPr>
              <a:t>Improves understanding of data visualization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800" b="0" i="0" u="none" strike="noStrike" cap="none" normalizeH="0" baseline="0" dirty="0" smtClean="0">
                <a:ln>
                  <a:noFill/>
                </a:ln>
                <a:solidFill>
                  <a:schemeClr val="tx1"/>
                </a:solidFill>
                <a:effectLst/>
                <a:latin typeface="+mj-lt"/>
              </a:rPr>
              <a:t>Helps apply machine learning techniques like clustering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22121"/>
        </a:solidFill>
        <a:effectLst/>
      </p:bgPr>
    </p:bg>
    <p:spTree>
      <p:nvGrpSpPr>
        <p:cNvPr id="1" name=""/>
        <p:cNvGrpSpPr/>
        <p:nvPr/>
      </p:nvGrpSpPr>
      <p:grpSpPr>
        <a:xfrm>
          <a:off x="0" y="0"/>
          <a:ext cx="0" cy="0"/>
          <a:chOff x="0" y="0"/>
          <a:chExt cx="0" cy="0"/>
        </a:xfrm>
      </p:grpSpPr>
      <p:sp>
        <p:nvSpPr>
          <p:cNvPr id="6" name="TextBox 6"/>
          <p:cNvSpPr txBox="1"/>
          <p:nvPr/>
        </p:nvSpPr>
        <p:spPr>
          <a:xfrm>
            <a:off x="726385" y="2245379"/>
            <a:ext cx="8112816" cy="2961260"/>
          </a:xfrm>
          <a:prstGeom prst="rect">
            <a:avLst/>
          </a:prstGeom>
        </p:spPr>
        <p:txBody>
          <a:bodyPr wrap="square" lIns="0" tIns="0" rIns="0" bIns="0" rtlCol="0" anchor="t">
            <a:spAutoFit/>
          </a:bodyPr>
          <a:lstStyle/>
          <a:p>
            <a:pPr marL="342900" indent="-342900">
              <a:buFont typeface="Arial" panose="020B0604020202020204" pitchFamily="34" charset="0"/>
              <a:buChar char="•"/>
            </a:pPr>
            <a:r>
              <a:rPr lang="en-US" sz="2400" b="1" dirty="0"/>
              <a:t>Exploratory Data Analysis (EDA) &amp; Feature Engineering</a:t>
            </a:r>
          </a:p>
          <a:p>
            <a:r>
              <a:rPr lang="en-US" sz="2400" dirty="0" smtClean="0"/>
              <a:t>         Analyzed </a:t>
            </a:r>
            <a:r>
              <a:rPr lang="en-US" sz="2400" dirty="0"/>
              <a:t>the dataset to find patterns and trends </a:t>
            </a:r>
          </a:p>
          <a:p>
            <a:r>
              <a:rPr lang="en-US" sz="2400" dirty="0" smtClean="0"/>
              <a:t>         Created </a:t>
            </a:r>
            <a:r>
              <a:rPr lang="en-US" sz="2400" dirty="0"/>
              <a:t>new features to improve </a:t>
            </a:r>
            <a:r>
              <a:rPr lang="en-US" sz="2400" dirty="0">
                <a:latin typeface="Poppins"/>
              </a:rPr>
              <a:t>model</a:t>
            </a:r>
            <a:r>
              <a:rPr lang="en-US" sz="2400" dirty="0"/>
              <a:t> </a:t>
            </a:r>
            <a:r>
              <a:rPr lang="en-US" sz="2400" dirty="0" smtClean="0"/>
              <a:t>performance</a:t>
            </a:r>
          </a:p>
          <a:p>
            <a:endParaRPr lang="en-US" sz="2400" dirty="0"/>
          </a:p>
          <a:p>
            <a:pPr marL="342900" indent="-342900">
              <a:buFont typeface="Arial" panose="020B0604020202020204" pitchFamily="34" charset="0"/>
              <a:buChar char="•"/>
            </a:pPr>
            <a:r>
              <a:rPr lang="en-US" sz="2400" b="1" dirty="0"/>
              <a:t>Modeling &amp; Advanced Analytics</a:t>
            </a:r>
          </a:p>
          <a:p>
            <a:r>
              <a:rPr lang="en-US" sz="2400" dirty="0" smtClean="0"/>
              <a:t>         Applied </a:t>
            </a:r>
            <a:r>
              <a:rPr lang="en-US" sz="2400" dirty="0"/>
              <a:t>machine learning models </a:t>
            </a:r>
          </a:p>
          <a:p>
            <a:r>
              <a:rPr lang="en-US" sz="2400" dirty="0" smtClean="0"/>
              <a:t>         Trained</a:t>
            </a:r>
            <a:r>
              <a:rPr lang="en-US" sz="2400" dirty="0"/>
              <a:t>, tested, and tuned models for better accuracy</a:t>
            </a:r>
          </a:p>
          <a:p>
            <a:pPr marL="720925" lvl="2">
              <a:spcBef>
                <a:spcPct val="0"/>
              </a:spcBef>
            </a:pPr>
            <a:endParaRPr lang="en-US" sz="2443" b="1" dirty="0">
              <a:solidFill>
                <a:srgbClr val="FFFFFF"/>
              </a:solidFill>
              <a:latin typeface="Play Bold"/>
              <a:ea typeface="Play Bold"/>
              <a:cs typeface="Play Bold"/>
              <a:sym typeface="Play Bold"/>
            </a:endParaRPr>
          </a:p>
        </p:txBody>
      </p:sp>
      <p:sp>
        <p:nvSpPr>
          <p:cNvPr id="7" name="TextBox 7"/>
          <p:cNvSpPr txBox="1"/>
          <p:nvPr/>
        </p:nvSpPr>
        <p:spPr>
          <a:xfrm>
            <a:off x="5638800" y="149332"/>
            <a:ext cx="7586131" cy="981102"/>
          </a:xfrm>
          <a:prstGeom prst="rect">
            <a:avLst/>
          </a:prstGeom>
        </p:spPr>
        <p:txBody>
          <a:bodyPr lIns="0" tIns="0" rIns="0" bIns="0" rtlCol="0" anchor="t">
            <a:spAutoFit/>
          </a:bodyPr>
          <a:lstStyle/>
          <a:p>
            <a:pPr algn="l">
              <a:lnSpc>
                <a:spcPts val="8301"/>
              </a:lnSpc>
            </a:pPr>
            <a:r>
              <a:rPr lang="en-US" sz="6000" b="1" dirty="0">
                <a:solidFill>
                  <a:srgbClr val="FFFFFF"/>
                </a:solidFill>
                <a:latin typeface="+mj-lt"/>
                <a:ea typeface="Play Bold"/>
                <a:cs typeface="Play Bold"/>
                <a:sym typeface="Play Bold"/>
              </a:rPr>
              <a:t>METHODOLOGY</a:t>
            </a:r>
          </a:p>
        </p:txBody>
      </p:sp>
      <p:sp>
        <p:nvSpPr>
          <p:cNvPr id="10" name="Rectangle 9"/>
          <p:cNvSpPr/>
          <p:nvPr/>
        </p:nvSpPr>
        <p:spPr>
          <a:xfrm>
            <a:off x="762000" y="6743700"/>
            <a:ext cx="6537960" cy="1200329"/>
          </a:xfrm>
          <a:prstGeom prst="rect">
            <a:avLst/>
          </a:prstGeom>
        </p:spPr>
        <p:txBody>
          <a:bodyPr wrap="square">
            <a:spAutoFit/>
          </a:bodyPr>
          <a:lstStyle/>
          <a:p>
            <a:pPr marL="342900" indent="-342900">
              <a:buFont typeface="Arial" panose="020B0604020202020204" pitchFamily="34" charset="0"/>
              <a:buChar char="•"/>
            </a:pPr>
            <a:r>
              <a:rPr lang="en-US" sz="2400" b="1" dirty="0"/>
              <a:t>Evaluation &amp; Deployment</a:t>
            </a:r>
          </a:p>
          <a:p>
            <a:r>
              <a:rPr lang="en-US" sz="2400" dirty="0" smtClean="0"/>
              <a:t>     Evaluated </a:t>
            </a:r>
            <a:r>
              <a:rPr lang="en-US" sz="2400" dirty="0"/>
              <a:t>model performance using metrics </a:t>
            </a:r>
          </a:p>
          <a:p>
            <a:r>
              <a:rPr lang="en-US" sz="2400" dirty="0" smtClean="0"/>
              <a:t>     Prepared </a:t>
            </a:r>
            <a:r>
              <a:rPr lang="en-US" sz="2400" dirty="0"/>
              <a:t>the model for real-world use</a:t>
            </a:r>
          </a:p>
        </p:txBody>
      </p:sp>
      <p:sp>
        <p:nvSpPr>
          <p:cNvPr id="11" name="Rectangle 10"/>
          <p:cNvSpPr/>
          <p:nvPr/>
        </p:nvSpPr>
        <p:spPr>
          <a:xfrm>
            <a:off x="726384" y="5206639"/>
            <a:ext cx="8244840" cy="1200329"/>
          </a:xfrm>
          <a:prstGeom prst="rect">
            <a:avLst/>
          </a:prstGeom>
        </p:spPr>
        <p:txBody>
          <a:bodyPr wrap="square">
            <a:spAutoFit/>
          </a:bodyPr>
          <a:lstStyle/>
          <a:p>
            <a:pPr marL="342900" lvl="0" indent="-342900" defTabSz="914400" eaLnBrk="0" fontAlgn="base" hangingPunct="0">
              <a:spcBef>
                <a:spcPct val="0"/>
              </a:spcBef>
              <a:spcAft>
                <a:spcPct val="0"/>
              </a:spcAft>
              <a:buFont typeface="Arial" panose="020B0604020202020204" pitchFamily="34" charset="0"/>
              <a:buChar char="•"/>
            </a:pPr>
            <a:r>
              <a:rPr lang="en-US" altLang="en-US" sz="2400" b="1" dirty="0">
                <a:latin typeface="+mj-lt"/>
              </a:rPr>
              <a:t>Dashboard &amp; Visualization</a:t>
            </a:r>
          </a:p>
          <a:p>
            <a:pPr lvl="0" defTabSz="914400" eaLnBrk="0" fontAlgn="base" hangingPunct="0">
              <a:spcBef>
                <a:spcPct val="0"/>
              </a:spcBef>
              <a:spcAft>
                <a:spcPct val="0"/>
              </a:spcAft>
            </a:pPr>
            <a:r>
              <a:rPr lang="en-US" altLang="en-US" sz="2400" dirty="0" smtClean="0">
                <a:latin typeface="+mj-lt"/>
              </a:rPr>
              <a:t>        Built </a:t>
            </a:r>
            <a:r>
              <a:rPr lang="en-US" altLang="en-US" sz="2400" dirty="0">
                <a:latin typeface="+mj-lt"/>
              </a:rPr>
              <a:t>charts and </a:t>
            </a:r>
            <a:r>
              <a:rPr lang="en-US" altLang="en-US" sz="2400" dirty="0" smtClean="0">
                <a:latin typeface="+mj-lt"/>
              </a:rPr>
              <a:t>graphs </a:t>
            </a:r>
            <a:r>
              <a:rPr lang="en-US" altLang="en-US" sz="2400" b="1" dirty="0">
                <a:latin typeface="+mj-lt"/>
              </a:rPr>
              <a:t>Interactive </a:t>
            </a:r>
            <a:r>
              <a:rPr lang="en-US" altLang="en-US" sz="2400" dirty="0">
                <a:latin typeface="+mj-lt"/>
              </a:rPr>
              <a:t>to present insights </a:t>
            </a:r>
          </a:p>
          <a:p>
            <a:pPr lvl="0" defTabSz="914400" eaLnBrk="0" fontAlgn="base" hangingPunct="0">
              <a:spcBef>
                <a:spcPct val="0"/>
              </a:spcBef>
              <a:spcAft>
                <a:spcPct val="0"/>
              </a:spcAft>
            </a:pPr>
            <a:r>
              <a:rPr lang="en-US" altLang="en-US" sz="2400" dirty="0" smtClean="0">
                <a:latin typeface="+mj-lt"/>
              </a:rPr>
              <a:t>        Developed </a:t>
            </a:r>
            <a:r>
              <a:rPr lang="en-US" altLang="en-US" sz="2400" dirty="0">
                <a:latin typeface="+mj-lt"/>
              </a:rPr>
              <a:t>a user-friendly dashboard </a:t>
            </a:r>
            <a:r>
              <a:rPr lang="en-US" altLang="en-US" sz="2400" dirty="0" smtClean="0">
                <a:latin typeface="+mj-lt"/>
              </a:rPr>
              <a:t> </a:t>
            </a:r>
            <a:endParaRPr lang="en-US" sz="2400" dirty="0">
              <a:latin typeface="+mj-lt"/>
            </a:endParaRP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6401" y="2095500"/>
            <a:ext cx="8610600" cy="60198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43BD6-0771-CA17-3692-7FDC951ABCF8}"/>
              </a:ext>
            </a:extLst>
          </p:cNvPr>
          <p:cNvSpPr>
            <a:spLocks noGrp="1"/>
          </p:cNvSpPr>
          <p:nvPr>
            <p:ph type="title"/>
          </p:nvPr>
        </p:nvSpPr>
        <p:spPr>
          <a:xfrm>
            <a:off x="457200" y="274638"/>
            <a:ext cx="16611600" cy="1143000"/>
          </a:xfrm>
        </p:spPr>
        <p:txBody>
          <a:bodyPr>
            <a:normAutofit/>
          </a:bodyPr>
          <a:lstStyle/>
          <a:p>
            <a:r>
              <a:rPr lang="en-US" b="1" dirty="0">
                <a:solidFill>
                  <a:srgbClr val="FFFFFF"/>
                </a:solidFill>
                <a:latin typeface="Calisto MT" panose="02040603050505030304" pitchFamily="18" charset="0"/>
                <a:ea typeface="Play"/>
                <a:cs typeface="Play"/>
                <a:sym typeface="Play"/>
              </a:rPr>
              <a:t>Exploratory Data Analysis</a:t>
            </a:r>
            <a:endParaRPr lang="en-US" b="1" dirty="0">
              <a:latin typeface="Calisto MT" panose="02040603050505030304" pitchFamily="18" charset="0"/>
            </a:endParaRPr>
          </a:p>
        </p:txBody>
      </p:sp>
      <p:sp>
        <p:nvSpPr>
          <p:cNvPr id="3" name="Content Placeholder 2">
            <a:extLst>
              <a:ext uri="{FF2B5EF4-FFF2-40B4-BE49-F238E27FC236}">
                <a16:creationId xmlns:a16="http://schemas.microsoft.com/office/drawing/2014/main" id="{9BD397BC-3710-F970-AA73-FFE2D78249F1}"/>
              </a:ext>
            </a:extLst>
          </p:cNvPr>
          <p:cNvSpPr>
            <a:spLocks noGrp="1"/>
          </p:cNvSpPr>
          <p:nvPr>
            <p:ph idx="1"/>
          </p:nvPr>
        </p:nvSpPr>
        <p:spPr>
          <a:xfrm>
            <a:off x="457200" y="1600200"/>
            <a:ext cx="16611600" cy="7658100"/>
          </a:xfrm>
        </p:spPr>
        <p:txBody>
          <a:bodyPr/>
          <a:lstStyle/>
          <a:p>
            <a:r>
              <a:rPr lang="en-US" sz="2400" b="1" dirty="0">
                <a:solidFill>
                  <a:schemeClr val="tx1"/>
                </a:solidFill>
              </a:rPr>
              <a:t>Objective of EDA</a:t>
            </a:r>
          </a:p>
          <a:p>
            <a:pPr lvl="1">
              <a:buFont typeface="Arial" panose="020B0604020202020204" pitchFamily="34" charset="0"/>
              <a:buChar char="•"/>
            </a:pPr>
            <a:r>
              <a:rPr lang="en-US" sz="2400" dirty="0">
                <a:solidFill>
                  <a:schemeClr val="tx1"/>
                </a:solidFill>
              </a:rPr>
              <a:t>Understand dataset structure and quality </a:t>
            </a:r>
          </a:p>
          <a:p>
            <a:pPr lvl="1">
              <a:buFont typeface="Arial" panose="020B0604020202020204" pitchFamily="34" charset="0"/>
              <a:buChar char="•"/>
            </a:pPr>
            <a:r>
              <a:rPr lang="en-US" sz="2400" dirty="0">
                <a:solidFill>
                  <a:schemeClr val="tx1"/>
                </a:solidFill>
              </a:rPr>
              <a:t>Identify patterns and relationships </a:t>
            </a:r>
          </a:p>
          <a:p>
            <a:pPr lvl="1">
              <a:buFont typeface="Arial" panose="020B0604020202020204" pitchFamily="34" charset="0"/>
              <a:buChar char="•"/>
            </a:pPr>
            <a:r>
              <a:rPr lang="en-US" sz="2400" dirty="0">
                <a:solidFill>
                  <a:schemeClr val="tx1"/>
                </a:solidFill>
              </a:rPr>
              <a:t>Detect missing values and duplicates </a:t>
            </a:r>
          </a:p>
          <a:p>
            <a:pPr lvl="1">
              <a:buFont typeface="Arial" panose="020B0604020202020204" pitchFamily="34" charset="0"/>
              <a:buChar char="•"/>
            </a:pPr>
            <a:r>
              <a:rPr lang="en-US" sz="2400" dirty="0">
                <a:solidFill>
                  <a:schemeClr val="tx1"/>
                </a:solidFill>
              </a:rPr>
              <a:t>Analyze distribution of languages</a:t>
            </a:r>
          </a:p>
          <a:p>
            <a:r>
              <a:rPr lang="en-US" sz="2400" b="1" dirty="0"/>
              <a:t>Exploratory Data Analysis (Overview)</a:t>
            </a:r>
          </a:p>
          <a:p>
            <a:pPr lvl="1">
              <a:buFont typeface="Arial" panose="020B0604020202020204" pitchFamily="34" charset="0"/>
              <a:buChar char="•"/>
            </a:pPr>
            <a:r>
              <a:rPr lang="en-US" sz="2400" dirty="0"/>
              <a:t>Performed initial data inspection to understand dataset structure </a:t>
            </a:r>
          </a:p>
          <a:p>
            <a:pPr lvl="1">
              <a:buFont typeface="Arial" panose="020B0604020202020204" pitchFamily="34" charset="0"/>
              <a:buChar char="•"/>
            </a:pPr>
            <a:r>
              <a:rPr lang="en-US" sz="2400" dirty="0"/>
              <a:t>Dataset contains Netflix titles with multiple attributes like: </a:t>
            </a:r>
          </a:p>
          <a:p>
            <a:pPr lvl="2">
              <a:buFont typeface="Arial" panose="020B0604020202020204" pitchFamily="34" charset="0"/>
              <a:buChar char="•"/>
            </a:pPr>
            <a:r>
              <a:rPr lang="en-US" dirty="0"/>
              <a:t>Type (Movie / TV Show) </a:t>
            </a:r>
          </a:p>
          <a:p>
            <a:pPr lvl="2">
              <a:buFont typeface="Arial" panose="020B0604020202020204" pitchFamily="34" charset="0"/>
              <a:buChar char="•"/>
            </a:pPr>
            <a:r>
              <a:rPr lang="en-US" dirty="0"/>
              <a:t>Country, Rating, Genre, Duration </a:t>
            </a:r>
          </a:p>
          <a:p>
            <a:r>
              <a:rPr lang="en-US" sz="2400" b="1" dirty="0"/>
              <a:t>Used</a:t>
            </a:r>
            <a:r>
              <a:rPr lang="en-US" sz="2400" dirty="0"/>
              <a:t>: </a:t>
            </a:r>
          </a:p>
          <a:p>
            <a:pPr lvl="1">
              <a:buFont typeface="Arial" panose="020B0604020202020204" pitchFamily="34" charset="0"/>
              <a:buChar char="•"/>
            </a:pPr>
            <a:r>
              <a:rPr lang="en-US" sz="2400" dirty="0"/>
              <a:t>.shape, .info(), .</a:t>
            </a:r>
            <a:r>
              <a:rPr lang="en-US" sz="2400" dirty="0" err="1"/>
              <a:t>isnull</a:t>
            </a:r>
            <a:r>
              <a:rPr lang="en-US" sz="2400" dirty="0"/>
              <a:t>(), .duplicated()</a:t>
            </a:r>
          </a:p>
          <a:p>
            <a:pPr lvl="2">
              <a:buFont typeface="Arial" panose="020B0604020202020204" pitchFamily="34" charset="0"/>
              <a:buChar char="•"/>
            </a:pPr>
            <a:endParaRPr lang="en-US" dirty="0"/>
          </a:p>
          <a:p>
            <a:endParaRPr lang="en-US" dirty="0"/>
          </a:p>
        </p:txBody>
      </p:sp>
      <p:pic>
        <p:nvPicPr>
          <p:cNvPr id="4" name="Picture 3"/>
          <p:cNvPicPr>
            <a:picLocks noChangeAspect="1"/>
          </p:cNvPicPr>
          <p:nvPr/>
        </p:nvPicPr>
        <p:blipFill>
          <a:blip r:embed="rId2"/>
          <a:stretch>
            <a:fillRect/>
          </a:stretch>
        </p:blipFill>
        <p:spPr>
          <a:xfrm>
            <a:off x="10591800" y="1866900"/>
            <a:ext cx="7149382" cy="6172200"/>
          </a:xfrm>
          <a:prstGeom prst="rect">
            <a:avLst/>
          </a:prstGeom>
        </p:spPr>
      </p:pic>
    </p:spTree>
    <p:extLst>
      <p:ext uri="{BB962C8B-B14F-4D97-AF65-F5344CB8AC3E}">
        <p14:creationId xmlns:p14="http://schemas.microsoft.com/office/powerpoint/2010/main" val="1870154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2EB9A-3A60-5FFA-0731-80255031F06A}"/>
              </a:ext>
            </a:extLst>
          </p:cNvPr>
          <p:cNvSpPr>
            <a:spLocks noGrp="1"/>
          </p:cNvSpPr>
          <p:nvPr>
            <p:ph type="title"/>
          </p:nvPr>
        </p:nvSpPr>
        <p:spPr>
          <a:xfrm>
            <a:off x="838200" y="-154259"/>
            <a:ext cx="15530643" cy="1455675"/>
          </a:xfrm>
        </p:spPr>
        <p:txBody>
          <a:bodyPr/>
          <a:lstStyle/>
          <a:p>
            <a:r>
              <a:rPr lang="en-US" b="1" dirty="0">
                <a:solidFill>
                  <a:srgbClr val="FFFFFF"/>
                </a:solidFill>
                <a:latin typeface="Calisto MT" panose="02040603050505030304" pitchFamily="18" charset="0"/>
                <a:ea typeface="Play"/>
                <a:cs typeface="Play"/>
                <a:sym typeface="Play"/>
              </a:rPr>
              <a:t>Exploratory Data Analysis</a:t>
            </a:r>
            <a:endParaRPr lang="en-US" dirty="0"/>
          </a:p>
        </p:txBody>
      </p:sp>
      <p:sp>
        <p:nvSpPr>
          <p:cNvPr id="3" name="Content Placeholder 2">
            <a:extLst>
              <a:ext uri="{FF2B5EF4-FFF2-40B4-BE49-F238E27FC236}">
                <a16:creationId xmlns:a16="http://schemas.microsoft.com/office/drawing/2014/main" id="{88C4B5F1-C28C-9D3C-1DC7-FAF8150F08BC}"/>
              </a:ext>
            </a:extLst>
          </p:cNvPr>
          <p:cNvSpPr>
            <a:spLocks noGrp="1"/>
          </p:cNvSpPr>
          <p:nvPr>
            <p:ph idx="1"/>
          </p:nvPr>
        </p:nvSpPr>
        <p:spPr>
          <a:xfrm>
            <a:off x="1418748" y="1600199"/>
            <a:ext cx="15530643" cy="7505701"/>
          </a:xfrm>
        </p:spPr>
        <p:txBody>
          <a:bodyPr>
            <a:normAutofit fontScale="92500" lnSpcReduction="20000"/>
          </a:bodyPr>
          <a:lstStyle/>
          <a:p>
            <a:r>
              <a:rPr lang="en-US" sz="2600" b="1" dirty="0"/>
              <a:t>Data Quality Analysis</a:t>
            </a:r>
          </a:p>
          <a:p>
            <a:pPr lvl="1">
              <a:buFont typeface="Arial" panose="020B0604020202020204" pitchFamily="34" charset="0"/>
              <a:buChar char="•"/>
            </a:pPr>
            <a:r>
              <a:rPr lang="en-US" sz="2600" dirty="0"/>
              <a:t>Missing values found in: </a:t>
            </a:r>
          </a:p>
          <a:p>
            <a:pPr lvl="2">
              <a:buFont typeface="Arial" panose="020B0604020202020204" pitchFamily="34" charset="0"/>
              <a:buChar char="•"/>
            </a:pPr>
            <a:r>
              <a:rPr lang="en-US" sz="2600" dirty="0"/>
              <a:t>Director, Cast, Country, Rating </a:t>
            </a:r>
          </a:p>
          <a:p>
            <a:pPr lvl="1">
              <a:buFont typeface="Arial" panose="020B0604020202020204" pitchFamily="34" charset="0"/>
              <a:buChar char="•"/>
            </a:pPr>
            <a:r>
              <a:rPr lang="en-US" sz="2600" dirty="0"/>
              <a:t>Duplicate rows detected and removed </a:t>
            </a:r>
          </a:p>
          <a:p>
            <a:pPr lvl="1">
              <a:buFont typeface="Arial" panose="020B0604020202020204" pitchFamily="34" charset="0"/>
              <a:buChar char="•"/>
            </a:pPr>
            <a:r>
              <a:rPr lang="en-US" sz="2600" dirty="0"/>
              <a:t>Inconsistent values found in: </a:t>
            </a:r>
          </a:p>
          <a:p>
            <a:pPr lvl="2">
              <a:buFont typeface="Arial" panose="020B0604020202020204" pitchFamily="34" charset="0"/>
              <a:buChar char="•"/>
            </a:pPr>
            <a:r>
              <a:rPr lang="en-US" sz="2600" dirty="0"/>
              <a:t>Rating column (e.g., "90 min", "1 Season")</a:t>
            </a:r>
          </a:p>
          <a:p>
            <a:pPr>
              <a:buFont typeface="Arial" panose="020B0604020202020204" pitchFamily="34" charset="0"/>
              <a:buChar char="•"/>
            </a:pPr>
            <a:r>
              <a:rPr lang="en-US" sz="2600" b="1" dirty="0"/>
              <a:t>Observed: </a:t>
            </a:r>
          </a:p>
          <a:p>
            <a:pPr lvl="1">
              <a:buFont typeface="Arial" panose="020B0604020202020204" pitchFamily="34" charset="0"/>
              <a:buChar char="•"/>
            </a:pPr>
            <a:r>
              <a:rPr lang="en-US" sz="2600" dirty="0"/>
              <a:t>Clean structure </a:t>
            </a:r>
          </a:p>
          <a:p>
            <a:pPr lvl="1">
              <a:buFont typeface="Arial" panose="020B0604020202020204" pitchFamily="34" charset="0"/>
              <a:buChar char="•"/>
            </a:pPr>
            <a:r>
              <a:rPr lang="en-US" sz="2600" dirty="0"/>
              <a:t>Balanced formatting of columns</a:t>
            </a:r>
          </a:p>
          <a:p>
            <a:r>
              <a:rPr lang="en-US" sz="2600" b="1" dirty="0"/>
              <a:t>Dataset Structure</a:t>
            </a:r>
          </a:p>
          <a:p>
            <a:pPr>
              <a:buFont typeface="Arial" panose="020B0604020202020204" pitchFamily="34" charset="0"/>
              <a:buChar char="•"/>
            </a:pPr>
            <a:r>
              <a:rPr lang="en-US" sz="2600" dirty="0"/>
              <a:t>Rows: ~8000+ entries (Netflix dataset) </a:t>
            </a:r>
          </a:p>
          <a:p>
            <a:pPr>
              <a:buFont typeface="Arial" panose="020B0604020202020204" pitchFamily="34" charset="0"/>
              <a:buChar char="•"/>
            </a:pPr>
            <a:r>
              <a:rPr lang="en-US" sz="2600" dirty="0"/>
              <a:t>Columns include: </a:t>
            </a:r>
          </a:p>
          <a:p>
            <a:pPr lvl="1">
              <a:buFont typeface="Arial" panose="020B0604020202020204" pitchFamily="34" charset="0"/>
              <a:buChar char="•"/>
            </a:pPr>
            <a:r>
              <a:rPr lang="en-US" sz="2600" dirty="0" err="1"/>
              <a:t>show_id</a:t>
            </a:r>
            <a:r>
              <a:rPr lang="en-US" sz="2600" dirty="0"/>
              <a:t>, type, title, director, cast </a:t>
            </a:r>
          </a:p>
          <a:p>
            <a:pPr lvl="1">
              <a:buFont typeface="Arial" panose="020B0604020202020204" pitchFamily="34" charset="0"/>
              <a:buChar char="•"/>
            </a:pPr>
            <a:r>
              <a:rPr lang="en-US" sz="2600" dirty="0"/>
              <a:t>country, </a:t>
            </a:r>
            <a:r>
              <a:rPr lang="en-US" sz="2600" dirty="0" err="1"/>
              <a:t>date_added</a:t>
            </a:r>
            <a:r>
              <a:rPr lang="en-US" sz="2600" dirty="0"/>
              <a:t>, </a:t>
            </a:r>
            <a:r>
              <a:rPr lang="en-US" sz="2600" dirty="0" err="1"/>
              <a:t>release_year</a:t>
            </a:r>
            <a:r>
              <a:rPr lang="en-US" sz="2600" dirty="0"/>
              <a:t> </a:t>
            </a:r>
          </a:p>
          <a:p>
            <a:pPr lvl="1">
              <a:buFont typeface="Arial" panose="020B0604020202020204" pitchFamily="34" charset="0"/>
              <a:buChar char="•"/>
            </a:pPr>
            <a:r>
              <a:rPr lang="en-US" sz="2600" dirty="0"/>
              <a:t>rating, duration, </a:t>
            </a:r>
            <a:r>
              <a:rPr lang="en-US" sz="2600" dirty="0" err="1"/>
              <a:t>listed_in</a:t>
            </a:r>
            <a:endParaRPr lang="en-US" sz="2600" dirty="0"/>
          </a:p>
          <a:p>
            <a:pPr lvl="1">
              <a:buFont typeface="Arial" panose="020B0604020202020204" pitchFamily="34" charset="0"/>
              <a:buChar char="•"/>
            </a:pPr>
            <a:endParaRPr lang="en-US" sz="2000" dirty="0"/>
          </a:p>
          <a:p>
            <a:pPr lvl="1">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1752769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41AE9-35F6-C1E4-345B-5CEE4B0C14C6}"/>
              </a:ext>
            </a:extLst>
          </p:cNvPr>
          <p:cNvSpPr>
            <a:spLocks noGrp="1"/>
          </p:cNvSpPr>
          <p:nvPr>
            <p:ph type="title"/>
          </p:nvPr>
        </p:nvSpPr>
        <p:spPr>
          <a:xfrm>
            <a:off x="1378678" y="-190500"/>
            <a:ext cx="15530643" cy="1455675"/>
          </a:xfrm>
        </p:spPr>
        <p:txBody>
          <a:bodyPr/>
          <a:lstStyle/>
          <a:p>
            <a:r>
              <a:rPr lang="en-US" b="1" dirty="0">
                <a:solidFill>
                  <a:schemeClr val="tx1"/>
                </a:solidFill>
              </a:rPr>
              <a:t>VISUALIZATION</a:t>
            </a:r>
          </a:p>
        </p:txBody>
      </p:sp>
      <p:sp>
        <p:nvSpPr>
          <p:cNvPr id="3" name="Content Placeholder 2">
            <a:extLst>
              <a:ext uri="{FF2B5EF4-FFF2-40B4-BE49-F238E27FC236}">
                <a16:creationId xmlns:a16="http://schemas.microsoft.com/office/drawing/2014/main" id="{58B32C39-9DC1-AB24-4BCA-C969F0A2859D}"/>
              </a:ext>
            </a:extLst>
          </p:cNvPr>
          <p:cNvSpPr>
            <a:spLocks noGrp="1"/>
          </p:cNvSpPr>
          <p:nvPr>
            <p:ph idx="1"/>
          </p:nvPr>
        </p:nvSpPr>
        <p:spPr>
          <a:xfrm>
            <a:off x="1524000" y="1638300"/>
            <a:ext cx="15530643" cy="7522906"/>
          </a:xfrm>
        </p:spPr>
        <p:txBody>
          <a:bodyPr/>
          <a:lstStyle/>
          <a:p>
            <a:r>
              <a:rPr lang="en-US" sz="2400" dirty="0"/>
              <a:t>Visualization helps us understand the dataset </a:t>
            </a:r>
          </a:p>
          <a:p>
            <a:pPr marL="621000" lvl="1" indent="0">
              <a:buNone/>
            </a:pPr>
            <a:r>
              <a:rPr lang="en-US" sz="2400" dirty="0"/>
              <a:t>better by converting numbers into meaningful </a:t>
            </a:r>
          </a:p>
          <a:p>
            <a:pPr marL="621000" lvl="1" indent="0">
              <a:buNone/>
            </a:pPr>
            <a:r>
              <a:rPr lang="en-US" sz="2400" dirty="0"/>
              <a:t>graphs.</a:t>
            </a:r>
            <a:endParaRPr lang="en-US" sz="2400" b="1" dirty="0"/>
          </a:p>
          <a:p>
            <a:endParaRPr lang="en-US" sz="2400" b="1" dirty="0"/>
          </a:p>
          <a:p>
            <a:r>
              <a:rPr lang="en-US" sz="2400" b="1" dirty="0"/>
              <a:t>Purpose of Visualization</a:t>
            </a:r>
          </a:p>
          <a:p>
            <a:pPr lvl="1">
              <a:buFont typeface="Arial" panose="020B0604020202020204" pitchFamily="34" charset="0"/>
              <a:buChar char="•"/>
            </a:pPr>
            <a:r>
              <a:rPr lang="en-US" sz="2400" dirty="0"/>
              <a:t>Understand distribution of languages </a:t>
            </a:r>
          </a:p>
          <a:p>
            <a:pPr lvl="1">
              <a:buFont typeface="Arial" panose="020B0604020202020204" pitchFamily="34" charset="0"/>
              <a:buChar char="•"/>
            </a:pPr>
            <a:r>
              <a:rPr lang="en-US" sz="2400" dirty="0"/>
              <a:t>Identify imbalance in dataset </a:t>
            </a:r>
          </a:p>
          <a:p>
            <a:pPr lvl="1">
              <a:buFont typeface="Arial" panose="020B0604020202020204" pitchFamily="34" charset="0"/>
              <a:buChar char="•"/>
            </a:pPr>
            <a:r>
              <a:rPr lang="en-US" sz="2400" dirty="0"/>
              <a:t>Support insights from EDA </a:t>
            </a:r>
          </a:p>
          <a:p>
            <a:r>
              <a:rPr lang="en-US" sz="2400" b="1" dirty="0"/>
              <a:t>Used: </a:t>
            </a:r>
            <a:r>
              <a:rPr lang="en-US" sz="2400" dirty="0"/>
              <a:t>Matplotlib , Seaborn</a:t>
            </a:r>
          </a:p>
          <a:p>
            <a:r>
              <a:rPr lang="en-US" sz="2400" b="1" dirty="0"/>
              <a:t>Clustering Visualization</a:t>
            </a:r>
          </a:p>
          <a:p>
            <a:pPr lvl="1">
              <a:buFont typeface="Arial" panose="020B0604020202020204" pitchFamily="34" charset="0"/>
              <a:buChar char="•"/>
            </a:pPr>
            <a:r>
              <a:rPr lang="en-US" sz="2400" dirty="0"/>
              <a:t>K-Means clustering applied </a:t>
            </a:r>
          </a:p>
          <a:p>
            <a:pPr lvl="1">
              <a:buFont typeface="Arial" panose="020B0604020202020204" pitchFamily="34" charset="0"/>
              <a:buChar char="•"/>
            </a:pPr>
            <a:r>
              <a:rPr lang="en-US" sz="2400" dirty="0"/>
              <a:t>Features used: Duration , Rating , Country</a:t>
            </a:r>
          </a:p>
          <a:p>
            <a:r>
              <a:rPr lang="en-US" sz="2400" dirty="0"/>
              <a:t>Goal : Identify trends, patterns, and distributions </a:t>
            </a:r>
          </a:p>
          <a:p>
            <a:pPr lvl="1">
              <a:buFont typeface="Arial" panose="020B0604020202020204" pitchFamily="34" charset="0"/>
              <a:buChar char="•"/>
            </a:pPr>
            <a:endParaRPr lang="en-US" sz="2200" dirty="0"/>
          </a:p>
          <a:p>
            <a:pPr lvl="1">
              <a:buFont typeface="Arial" panose="020B0604020202020204" pitchFamily="34" charset="0"/>
              <a:buChar char="•"/>
            </a:pPr>
            <a:endParaRPr lang="en-US" sz="2200" dirty="0"/>
          </a:p>
          <a:p>
            <a:endParaRPr lang="en-US" dirty="0"/>
          </a:p>
        </p:txBody>
      </p:sp>
      <p:pic>
        <p:nvPicPr>
          <p:cNvPr id="6" name="Picture 5"/>
          <p:cNvPicPr>
            <a:picLocks noChangeAspect="1"/>
          </p:cNvPicPr>
          <p:nvPr/>
        </p:nvPicPr>
        <p:blipFill>
          <a:blip r:embed="rId3"/>
          <a:stretch>
            <a:fillRect/>
          </a:stretch>
        </p:blipFill>
        <p:spPr>
          <a:xfrm>
            <a:off x="7543800" y="3238499"/>
            <a:ext cx="10668000" cy="4211053"/>
          </a:xfrm>
          <a:prstGeom prst="rect">
            <a:avLst/>
          </a:prstGeom>
        </p:spPr>
      </p:pic>
    </p:spTree>
    <p:extLst>
      <p:ext uri="{BB962C8B-B14F-4D97-AF65-F5344CB8AC3E}">
        <p14:creationId xmlns:p14="http://schemas.microsoft.com/office/powerpoint/2010/main" val="4216546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59922" y="0"/>
            <a:ext cx="18347921" cy="10287000"/>
          </a:xfrm>
          <a:prstGeom prst="rect">
            <a:avLst/>
          </a:prstGeom>
        </p:spPr>
      </p:pic>
    </p:spTree>
    <p:extLst>
      <p:ext uri="{BB962C8B-B14F-4D97-AF65-F5344CB8AC3E}">
        <p14:creationId xmlns:p14="http://schemas.microsoft.com/office/powerpoint/2010/main" val="192525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91432-76E1-22A9-95E7-0B4D15A8A162}"/>
              </a:ext>
            </a:extLst>
          </p:cNvPr>
          <p:cNvSpPr>
            <a:spLocks noGrp="1"/>
          </p:cNvSpPr>
          <p:nvPr>
            <p:ph type="title"/>
          </p:nvPr>
        </p:nvSpPr>
        <p:spPr>
          <a:xfrm>
            <a:off x="1346112" y="-190500"/>
            <a:ext cx="15530643" cy="1455675"/>
          </a:xfrm>
        </p:spPr>
        <p:txBody>
          <a:bodyPr/>
          <a:lstStyle/>
          <a:p>
            <a:r>
              <a:rPr lang="en-US" b="1" dirty="0">
                <a:solidFill>
                  <a:schemeClr val="tx1"/>
                </a:solidFill>
              </a:rPr>
              <a:t>DATA PREPROCESSING</a:t>
            </a:r>
          </a:p>
        </p:txBody>
      </p:sp>
      <p:sp>
        <p:nvSpPr>
          <p:cNvPr id="3" name="Content Placeholder 2">
            <a:extLst>
              <a:ext uri="{FF2B5EF4-FFF2-40B4-BE49-F238E27FC236}">
                <a16:creationId xmlns:a16="http://schemas.microsoft.com/office/drawing/2014/main" id="{AFFAB5D3-107D-F9FD-1511-E6F6F06E0DD8}"/>
              </a:ext>
            </a:extLst>
          </p:cNvPr>
          <p:cNvSpPr>
            <a:spLocks noGrp="1"/>
          </p:cNvSpPr>
          <p:nvPr>
            <p:ph idx="1"/>
          </p:nvPr>
        </p:nvSpPr>
        <p:spPr>
          <a:xfrm>
            <a:off x="1378678" y="1297630"/>
            <a:ext cx="15530643" cy="8341670"/>
          </a:xfrm>
        </p:spPr>
        <p:txBody>
          <a:bodyPr>
            <a:noAutofit/>
          </a:bodyPr>
          <a:lstStyle/>
          <a:p>
            <a:pPr>
              <a:buFont typeface="Arial" panose="020B0604020202020204" pitchFamily="34" charset="0"/>
              <a:buChar char="•"/>
            </a:pPr>
            <a:r>
              <a:rPr lang="en-US" sz="2400" dirty="0"/>
              <a:t>Data preprocessing is important because raw text data often contains noise and inconsistencies. We cleaned and standardized the data to make it suitable for machine learning.</a:t>
            </a:r>
          </a:p>
          <a:p>
            <a:pPr lvl="1">
              <a:buFont typeface="Arial" panose="020B0604020202020204" pitchFamily="34" charset="0"/>
              <a:buChar char="•"/>
            </a:pPr>
            <a:r>
              <a:rPr lang="en-US" sz="2400" dirty="0"/>
              <a:t>Essential step to prepare raw text data</a:t>
            </a:r>
          </a:p>
          <a:p>
            <a:pPr lvl="1">
              <a:buFont typeface="Arial" panose="020B0604020202020204" pitchFamily="34" charset="0"/>
              <a:buChar char="•"/>
            </a:pPr>
            <a:r>
              <a:rPr lang="en-US" sz="2400" dirty="0"/>
              <a:t>Improves data quality and consistency</a:t>
            </a:r>
          </a:p>
          <a:p>
            <a:pPr lvl="1">
              <a:buFont typeface="Arial" panose="020B0604020202020204" pitchFamily="34" charset="0"/>
              <a:buChar char="•"/>
            </a:pPr>
            <a:r>
              <a:rPr lang="en-US" sz="2400" dirty="0"/>
              <a:t>Reduces noise and redundancy</a:t>
            </a:r>
          </a:p>
          <a:p>
            <a:pPr lvl="1">
              <a:buFont typeface="Arial" panose="020B0604020202020204" pitchFamily="34" charset="0"/>
              <a:buChar char="•"/>
            </a:pPr>
            <a:r>
              <a:rPr lang="en-US" sz="2400" dirty="0"/>
              <a:t>Ensures better model performance</a:t>
            </a:r>
          </a:p>
          <a:p>
            <a:pPr>
              <a:buFont typeface="Arial" panose="020B0604020202020204" pitchFamily="34" charset="0"/>
              <a:buChar char="•"/>
            </a:pPr>
            <a:r>
              <a:rPr lang="en-US" sz="2400" dirty="0"/>
              <a:t>Duplicate entries can mislead the model by repeating the same information, so we removed them to ensure fair learning .</a:t>
            </a:r>
          </a:p>
          <a:p>
            <a:pPr lvl="1">
              <a:buFont typeface="Arial" panose="020B0604020202020204" pitchFamily="34" charset="0"/>
              <a:buChar char="•"/>
            </a:pPr>
            <a:r>
              <a:rPr lang="en-US" sz="2400" dirty="0"/>
              <a:t>Identified duplicate rows </a:t>
            </a:r>
          </a:p>
          <a:p>
            <a:pPr lvl="1">
              <a:buFont typeface="Arial" panose="020B0604020202020204" pitchFamily="34" charset="0"/>
              <a:buChar char="•"/>
            </a:pPr>
            <a:r>
              <a:rPr lang="en-US" sz="2400" dirty="0"/>
              <a:t>Removed identical text entries</a:t>
            </a:r>
          </a:p>
          <a:p>
            <a:pPr lvl="1">
              <a:buFont typeface="Arial" panose="020B0604020202020204" pitchFamily="34" charset="0"/>
              <a:buChar char="•"/>
            </a:pPr>
            <a:r>
              <a:rPr lang="en-US" sz="2400" dirty="0"/>
              <a:t>Prevented model bias</a:t>
            </a:r>
          </a:p>
          <a:p>
            <a:pPr>
              <a:buFont typeface="Arial" panose="020B0604020202020204" pitchFamily="34" charset="0"/>
              <a:buChar char="•"/>
            </a:pPr>
            <a:r>
              <a:rPr lang="en-US" sz="2400" dirty="0"/>
              <a:t>Text Cleaning - cleaned the text using regular expressions to remove unwanted characters and make the data uniform.</a:t>
            </a:r>
          </a:p>
          <a:p>
            <a:pPr lvl="1">
              <a:buFont typeface="Arial" panose="020B0604020202020204" pitchFamily="34" charset="0"/>
              <a:buChar char="•"/>
            </a:pPr>
            <a:r>
              <a:rPr lang="en-US" sz="2400" dirty="0"/>
              <a:t>Removed punctuation</a:t>
            </a:r>
          </a:p>
          <a:p>
            <a:pPr lvl="1">
              <a:buFont typeface="Arial" panose="020B0604020202020204" pitchFamily="34" charset="0"/>
              <a:buChar char="•"/>
            </a:pPr>
            <a:r>
              <a:rPr lang="en-US" sz="2400" dirty="0"/>
              <a:t>Removed special character </a:t>
            </a:r>
          </a:p>
          <a:p>
            <a:pPr lvl="1">
              <a:buFont typeface="Arial" panose="020B0604020202020204" pitchFamily="34" charset="0"/>
              <a:buChar char="•"/>
            </a:pPr>
            <a:r>
              <a:rPr lang="en-US" sz="2400" dirty="0"/>
              <a:t>Removed extra spaces </a:t>
            </a:r>
          </a:p>
          <a:p>
            <a:pPr lvl="1">
              <a:buFont typeface="Arial" panose="020B0604020202020204" pitchFamily="34" charset="0"/>
              <a:buChar char="•"/>
            </a:pPr>
            <a:r>
              <a:rPr lang="en-US" sz="2400" dirty="0"/>
              <a:t>Applied regex cleaning</a:t>
            </a:r>
          </a:p>
        </p:txBody>
      </p:sp>
    </p:spTree>
    <p:extLst>
      <p:ext uri="{BB962C8B-B14F-4D97-AF65-F5344CB8AC3E}">
        <p14:creationId xmlns:p14="http://schemas.microsoft.com/office/powerpoint/2010/main" val="3084704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DDBBA-6AE6-8C13-E01F-9ED6B4C1DAB1}"/>
              </a:ext>
            </a:extLst>
          </p:cNvPr>
          <p:cNvSpPr>
            <a:spLocks noGrp="1"/>
          </p:cNvSpPr>
          <p:nvPr>
            <p:ph type="title"/>
          </p:nvPr>
        </p:nvSpPr>
        <p:spPr>
          <a:xfrm>
            <a:off x="1378677" y="-190500"/>
            <a:ext cx="15530643" cy="1455675"/>
          </a:xfrm>
        </p:spPr>
        <p:txBody>
          <a:bodyPr/>
          <a:lstStyle/>
          <a:p>
            <a:r>
              <a:rPr lang="en-US" b="1" dirty="0">
                <a:solidFill>
                  <a:schemeClr val="tx1"/>
                </a:solidFill>
              </a:rPr>
              <a:t>DATA PREPROCESSING</a:t>
            </a:r>
            <a:endParaRPr lang="en-US" dirty="0"/>
          </a:p>
        </p:txBody>
      </p:sp>
      <p:sp>
        <p:nvSpPr>
          <p:cNvPr id="3" name="Content Placeholder 2">
            <a:extLst>
              <a:ext uri="{FF2B5EF4-FFF2-40B4-BE49-F238E27FC236}">
                <a16:creationId xmlns:a16="http://schemas.microsoft.com/office/drawing/2014/main" id="{06D288AB-2A4A-43AA-CCFC-7D49B001F7B8}"/>
              </a:ext>
            </a:extLst>
          </p:cNvPr>
          <p:cNvSpPr>
            <a:spLocks noGrp="1"/>
          </p:cNvSpPr>
          <p:nvPr>
            <p:ph idx="1"/>
          </p:nvPr>
        </p:nvSpPr>
        <p:spPr>
          <a:xfrm>
            <a:off x="1378678" y="1265176"/>
            <a:ext cx="15530643" cy="7993124"/>
          </a:xfrm>
        </p:spPr>
        <p:txBody>
          <a:bodyPr>
            <a:normAutofit/>
          </a:bodyPr>
          <a:lstStyle/>
          <a:p>
            <a:r>
              <a:rPr lang="en-US" sz="2400" b="1" dirty="0"/>
              <a:t>Text Normalization -</a:t>
            </a:r>
            <a:r>
              <a:rPr lang="en-US" sz="2400" dirty="0"/>
              <a:t>Normalization ensures consistency.</a:t>
            </a:r>
          </a:p>
          <a:p>
            <a:pPr lvl="1">
              <a:buFont typeface="Arial" panose="020B0604020202020204" pitchFamily="34" charset="0"/>
              <a:buChar char="•"/>
            </a:pPr>
            <a:r>
              <a:rPr lang="en-US" sz="2400" dirty="0"/>
              <a:t>Converted text to lowercase</a:t>
            </a:r>
          </a:p>
          <a:p>
            <a:pPr lvl="1">
              <a:buFont typeface="Arial" panose="020B0604020202020204" pitchFamily="34" charset="0"/>
              <a:buChar char="•"/>
            </a:pPr>
            <a:r>
              <a:rPr lang="en-US" sz="2400" dirty="0"/>
              <a:t>Standardized formatting</a:t>
            </a:r>
          </a:p>
          <a:p>
            <a:pPr lvl="1">
              <a:buFont typeface="Arial" panose="020B0604020202020204" pitchFamily="34" charset="0"/>
              <a:buChar char="•"/>
            </a:pPr>
            <a:r>
              <a:rPr lang="en-US" sz="2400" dirty="0"/>
              <a:t>Reduced variability</a:t>
            </a:r>
          </a:p>
          <a:p>
            <a:pPr>
              <a:buFont typeface="Arial" panose="020B0604020202020204" pitchFamily="34" charset="0"/>
              <a:buChar char="•"/>
            </a:pPr>
            <a:r>
              <a:rPr lang="en-US" sz="2400" dirty="0"/>
              <a:t>Text Cleaning - cleaned the text using regular expressions to remove unwanted characters and make the data uniform.</a:t>
            </a:r>
          </a:p>
          <a:p>
            <a:pPr lvl="1">
              <a:buFont typeface="Arial" panose="020B0604020202020204" pitchFamily="34" charset="0"/>
              <a:buChar char="•"/>
            </a:pPr>
            <a:r>
              <a:rPr lang="en-US" sz="2400" dirty="0"/>
              <a:t>Removed punctuation</a:t>
            </a:r>
          </a:p>
          <a:p>
            <a:pPr lvl="1">
              <a:buFont typeface="Arial" panose="020B0604020202020204" pitchFamily="34" charset="0"/>
              <a:buChar char="•"/>
            </a:pPr>
            <a:r>
              <a:rPr lang="en-US" sz="2400" dirty="0"/>
              <a:t>Removed special character </a:t>
            </a:r>
          </a:p>
          <a:p>
            <a:pPr lvl="1">
              <a:buFont typeface="Arial" panose="020B0604020202020204" pitchFamily="34" charset="0"/>
              <a:buChar char="•"/>
            </a:pPr>
            <a:r>
              <a:rPr lang="en-US" sz="2400" dirty="0"/>
              <a:t>Removed extra spaces </a:t>
            </a:r>
          </a:p>
          <a:p>
            <a:pPr lvl="1">
              <a:buFont typeface="Arial" panose="020B0604020202020204" pitchFamily="34" charset="0"/>
              <a:buChar char="•"/>
            </a:pPr>
            <a:r>
              <a:rPr lang="en-US" sz="2400" dirty="0"/>
              <a:t>Applied regex cleaning</a:t>
            </a:r>
          </a:p>
        </p:txBody>
      </p:sp>
    </p:spTree>
    <p:extLst>
      <p:ext uri="{BB962C8B-B14F-4D97-AF65-F5344CB8AC3E}">
        <p14:creationId xmlns:p14="http://schemas.microsoft.com/office/powerpoint/2010/main" val="3900246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1A88CD-B47D-A3EC-7A16-DB7EC1AA9D82}"/>
              </a:ext>
            </a:extLst>
          </p:cNvPr>
          <p:cNvSpPr>
            <a:spLocks noGrp="1"/>
          </p:cNvSpPr>
          <p:nvPr>
            <p:ph type="title"/>
          </p:nvPr>
        </p:nvSpPr>
        <p:spPr>
          <a:xfrm>
            <a:off x="1370692" y="-114300"/>
            <a:ext cx="15530643" cy="1455675"/>
          </a:xfrm>
        </p:spPr>
        <p:txBody>
          <a:bodyPr/>
          <a:lstStyle/>
          <a:p>
            <a:r>
              <a:rPr lang="en-US" b="1" dirty="0">
                <a:solidFill>
                  <a:schemeClr val="tx1"/>
                </a:solidFill>
              </a:rPr>
              <a:t>FEATURE EXTRACTION</a:t>
            </a:r>
          </a:p>
        </p:txBody>
      </p:sp>
      <p:sp>
        <p:nvSpPr>
          <p:cNvPr id="3" name="Content Placeholder 2">
            <a:extLst>
              <a:ext uri="{FF2B5EF4-FFF2-40B4-BE49-F238E27FC236}">
                <a16:creationId xmlns:a16="http://schemas.microsoft.com/office/drawing/2014/main" id="{BF29CD18-BFA9-8322-AD31-3DFE2AC3CB3D}"/>
              </a:ext>
            </a:extLst>
          </p:cNvPr>
          <p:cNvSpPr>
            <a:spLocks noGrp="1"/>
          </p:cNvSpPr>
          <p:nvPr>
            <p:ph idx="1"/>
          </p:nvPr>
        </p:nvSpPr>
        <p:spPr>
          <a:xfrm>
            <a:off x="1348569" y="1562100"/>
            <a:ext cx="15530643" cy="6088127"/>
          </a:xfrm>
        </p:spPr>
        <p:txBody>
          <a:bodyPr>
            <a:normAutofit/>
          </a:bodyPr>
          <a:lstStyle/>
          <a:p>
            <a:pPr>
              <a:buFont typeface="Wingdings" panose="05000000000000000000" pitchFamily="2" charset="2"/>
              <a:buChar char="v"/>
            </a:pPr>
            <a:r>
              <a:rPr lang="en-US" sz="2400" dirty="0"/>
              <a:t>Feature extraction is the process of converting raw text into numerical data so that machine learning models can understand and process it.</a:t>
            </a:r>
          </a:p>
          <a:p>
            <a:pPr>
              <a:buFont typeface="Wingdings" panose="05000000000000000000" pitchFamily="2" charset="2"/>
              <a:buChar char="v"/>
            </a:pPr>
            <a:r>
              <a:rPr lang="en-US" sz="2400" dirty="0"/>
              <a:t>Why Feature Extraction is Needed?</a:t>
            </a:r>
          </a:p>
          <a:p>
            <a:pPr>
              <a:buFont typeface="Arial" panose="020B0604020202020204" pitchFamily="34" charset="0"/>
              <a:buChar char="•"/>
            </a:pPr>
            <a:r>
              <a:rPr lang="en-US" sz="2400" dirty="0"/>
              <a:t>Since models work with numbers, we must transform text into numerical form. This step is crucial for enabling the model to learn language patterns.</a:t>
            </a:r>
          </a:p>
          <a:p>
            <a:pPr>
              <a:buFont typeface="Arial" panose="020B0604020202020204" pitchFamily="34" charset="0"/>
              <a:buChar char="•"/>
            </a:pPr>
            <a:r>
              <a:rPr lang="en-US" sz="2400" dirty="0"/>
              <a:t>Machines cannot understand raw text</a:t>
            </a:r>
          </a:p>
          <a:p>
            <a:pPr>
              <a:buFont typeface="Arial" panose="020B0604020202020204" pitchFamily="34" charset="0"/>
              <a:buChar char="•"/>
            </a:pPr>
            <a:r>
              <a:rPr lang="en-US" sz="2400" dirty="0"/>
              <a:t>Text must be converted into numbers</a:t>
            </a:r>
          </a:p>
          <a:p>
            <a:pPr>
              <a:buFont typeface="Arial" panose="020B0604020202020204" pitchFamily="34" charset="0"/>
              <a:buChar char="•"/>
            </a:pPr>
            <a:r>
              <a:rPr lang="en-US" sz="2400" dirty="0"/>
              <a:t>Helps model learn </a:t>
            </a:r>
          </a:p>
          <a:p>
            <a:pPr>
              <a:buFont typeface="Arial" panose="020B0604020202020204" pitchFamily="34" charset="0"/>
              <a:buChar char="•"/>
            </a:pPr>
            <a:r>
              <a:rPr lang="en-US" sz="2400" dirty="0"/>
              <a:t>Improves prediction accuracy</a:t>
            </a:r>
          </a:p>
          <a:p>
            <a:pPr>
              <a:buFont typeface="Arial" panose="020B0604020202020204" pitchFamily="34" charset="0"/>
              <a:buChar char="•"/>
            </a:pPr>
            <a:r>
              <a:rPr lang="en-US" sz="2400" dirty="0"/>
              <a:t>Tokenization breaks text into individual words and assigns each word a number. This is the first step in converting text into machine-readable format.</a:t>
            </a:r>
          </a:p>
          <a:p>
            <a:pPr>
              <a:buFont typeface="Arial" panose="020B0604020202020204" pitchFamily="34" charset="0"/>
              <a:buChar char="•"/>
            </a:pPr>
            <a:endParaRPr lang="en-US" sz="2400" dirty="0"/>
          </a:p>
        </p:txBody>
      </p:sp>
    </p:spTree>
    <p:extLst>
      <p:ext uri="{BB962C8B-B14F-4D97-AF65-F5344CB8AC3E}">
        <p14:creationId xmlns:p14="http://schemas.microsoft.com/office/powerpoint/2010/main" val="37622712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A903C-1779-3FC0-D3AB-B05C1EA7FE3E}"/>
              </a:ext>
            </a:extLst>
          </p:cNvPr>
          <p:cNvSpPr>
            <a:spLocks noGrp="1"/>
          </p:cNvSpPr>
          <p:nvPr>
            <p:ph type="title"/>
          </p:nvPr>
        </p:nvSpPr>
        <p:spPr>
          <a:xfrm>
            <a:off x="1360861" y="-114300"/>
            <a:ext cx="15530643" cy="1455675"/>
          </a:xfrm>
        </p:spPr>
        <p:txBody>
          <a:bodyPr/>
          <a:lstStyle/>
          <a:p>
            <a:r>
              <a:rPr lang="en-US" b="1" dirty="0">
                <a:solidFill>
                  <a:schemeClr val="tx1"/>
                </a:solidFill>
              </a:rPr>
              <a:t>FEATURE EXTRACTION</a:t>
            </a:r>
            <a:endParaRPr lang="en-US" dirty="0"/>
          </a:p>
        </p:txBody>
      </p:sp>
      <p:sp>
        <p:nvSpPr>
          <p:cNvPr id="3" name="Content Placeholder 2">
            <a:extLst>
              <a:ext uri="{FF2B5EF4-FFF2-40B4-BE49-F238E27FC236}">
                <a16:creationId xmlns:a16="http://schemas.microsoft.com/office/drawing/2014/main" id="{E8088427-538B-B35F-D181-4299E9E30AA0}"/>
              </a:ext>
            </a:extLst>
          </p:cNvPr>
          <p:cNvSpPr>
            <a:spLocks noGrp="1"/>
          </p:cNvSpPr>
          <p:nvPr>
            <p:ph idx="1"/>
          </p:nvPr>
        </p:nvSpPr>
        <p:spPr>
          <a:xfrm>
            <a:off x="914400" y="1341375"/>
            <a:ext cx="15530643" cy="7345426"/>
          </a:xfrm>
        </p:spPr>
        <p:txBody>
          <a:bodyPr>
            <a:normAutofit/>
          </a:bodyPr>
          <a:lstStyle/>
          <a:p>
            <a:r>
              <a:rPr lang="en-US" sz="2200" b="1" dirty="0"/>
              <a:t>Key Features Extracted</a:t>
            </a:r>
          </a:p>
          <a:p>
            <a:pPr lvl="1">
              <a:buFont typeface="Arial" panose="020B0604020202020204" pitchFamily="34" charset="0"/>
              <a:buChar char="•"/>
            </a:pPr>
            <a:r>
              <a:rPr lang="en-US" sz="2200" b="1" dirty="0"/>
              <a:t>Content Type</a:t>
            </a:r>
            <a:r>
              <a:rPr lang="en-US" sz="2200" dirty="0"/>
              <a:t>  - Movie / TV Show classification </a:t>
            </a:r>
          </a:p>
          <a:p>
            <a:pPr lvl="1">
              <a:buFont typeface="Arial" panose="020B0604020202020204" pitchFamily="34" charset="0"/>
              <a:buChar char="•"/>
            </a:pPr>
            <a:r>
              <a:rPr lang="en-US" sz="2200" b="1" dirty="0"/>
              <a:t>Genre Analysis</a:t>
            </a:r>
            <a:r>
              <a:rPr lang="en-US" sz="2200" dirty="0"/>
              <a:t>  - Extracted and separated multiple genres per title </a:t>
            </a:r>
          </a:p>
          <a:p>
            <a:pPr lvl="1">
              <a:buFont typeface="Arial" panose="020B0604020202020204" pitchFamily="34" charset="0"/>
              <a:buChar char="•"/>
            </a:pPr>
            <a:r>
              <a:rPr lang="en-US" sz="2200" b="1" dirty="0"/>
              <a:t>Release Year</a:t>
            </a:r>
            <a:r>
              <a:rPr lang="en-US" sz="2200" dirty="0"/>
              <a:t> - Used to analyze content trends over time </a:t>
            </a:r>
          </a:p>
          <a:p>
            <a:pPr lvl="1">
              <a:buFont typeface="Arial" panose="020B0604020202020204" pitchFamily="34" charset="0"/>
              <a:buChar char="•"/>
            </a:pPr>
            <a:r>
              <a:rPr lang="en-US" sz="2200" b="1" dirty="0"/>
              <a:t>Duration</a:t>
            </a:r>
            <a:r>
              <a:rPr lang="en-US" sz="2200" dirty="0"/>
              <a:t> - Converted into numeric format (minutes / seasons) </a:t>
            </a:r>
          </a:p>
          <a:p>
            <a:pPr lvl="1">
              <a:buFont typeface="Arial" panose="020B0604020202020204" pitchFamily="34" charset="0"/>
              <a:buChar char="•"/>
            </a:pPr>
            <a:r>
              <a:rPr lang="en-US" sz="2200" b="1" dirty="0"/>
              <a:t>Country</a:t>
            </a:r>
            <a:r>
              <a:rPr lang="en-US" sz="2200" dirty="0"/>
              <a:t> - Identified top content-producing countries </a:t>
            </a:r>
          </a:p>
          <a:p>
            <a:pPr lvl="1">
              <a:buFont typeface="Arial" panose="020B0604020202020204" pitchFamily="34" charset="0"/>
              <a:buChar char="•"/>
            </a:pPr>
            <a:r>
              <a:rPr lang="en-US" sz="2200" b="1" dirty="0"/>
              <a:t>Date Added</a:t>
            </a:r>
            <a:r>
              <a:rPr lang="en-US" sz="2200" dirty="0"/>
              <a:t> - Converted to datetime format for timeline analysis </a:t>
            </a:r>
          </a:p>
          <a:p>
            <a:pPr lvl="1">
              <a:buFont typeface="Arial" panose="020B0604020202020204" pitchFamily="34" charset="0"/>
              <a:buChar char="•"/>
            </a:pPr>
            <a:r>
              <a:rPr lang="en-US" sz="2200" b="1" dirty="0"/>
              <a:t>Rating</a:t>
            </a:r>
            <a:r>
              <a:rPr lang="en-US" sz="2200" dirty="0"/>
              <a:t> - Categorized content based on audience suitability (TV-MA, PG, etc.)</a:t>
            </a:r>
          </a:p>
          <a:p>
            <a:r>
              <a:rPr lang="en-US" sz="2200" b="1" dirty="0"/>
              <a:t>Why Feature Extraction Matters?</a:t>
            </a:r>
          </a:p>
          <a:p>
            <a:pPr lvl="1">
              <a:buFont typeface="Arial" panose="020B0604020202020204" pitchFamily="34" charset="0"/>
              <a:buChar char="•"/>
            </a:pPr>
            <a:r>
              <a:rPr lang="en-US" sz="2200" dirty="0"/>
              <a:t>Enables </a:t>
            </a:r>
            <a:r>
              <a:rPr lang="en-US" sz="2200" b="1" dirty="0"/>
              <a:t>trend analysis</a:t>
            </a:r>
            <a:r>
              <a:rPr lang="en-US" sz="2200" dirty="0"/>
              <a:t> </a:t>
            </a:r>
          </a:p>
          <a:p>
            <a:pPr lvl="1">
              <a:buFont typeface="Arial" panose="020B0604020202020204" pitchFamily="34" charset="0"/>
              <a:buChar char="•"/>
            </a:pPr>
            <a:r>
              <a:rPr lang="en-US" sz="2200" dirty="0"/>
              <a:t>Improves </a:t>
            </a:r>
            <a:r>
              <a:rPr lang="en-US" sz="2200" b="1" dirty="0"/>
              <a:t>data visualization</a:t>
            </a:r>
            <a:r>
              <a:rPr lang="en-US" sz="2200" dirty="0"/>
              <a:t> </a:t>
            </a:r>
          </a:p>
          <a:p>
            <a:pPr lvl="1">
              <a:buFont typeface="Arial" panose="020B0604020202020204" pitchFamily="34" charset="0"/>
              <a:buChar char="•"/>
            </a:pPr>
            <a:r>
              <a:rPr lang="en-US" sz="2200" dirty="0"/>
              <a:t>Supports </a:t>
            </a:r>
            <a:r>
              <a:rPr lang="en-US" sz="2200" b="1" dirty="0"/>
              <a:t>recommendation systems</a:t>
            </a:r>
            <a:r>
              <a:rPr lang="en-US" sz="2200" dirty="0"/>
              <a:t> </a:t>
            </a:r>
          </a:p>
          <a:p>
            <a:pPr lvl="1">
              <a:buFont typeface="Arial" panose="020B0604020202020204" pitchFamily="34" charset="0"/>
              <a:buChar char="•"/>
            </a:pPr>
            <a:r>
              <a:rPr lang="en-US" sz="2200" dirty="0"/>
              <a:t>Helps uncover </a:t>
            </a:r>
            <a:r>
              <a:rPr lang="en-US" sz="2200" b="1" dirty="0"/>
              <a:t>hidden patterns</a:t>
            </a:r>
            <a:endParaRPr lang="en-US" sz="2200" dirty="0"/>
          </a:p>
          <a:p>
            <a:endParaRPr lang="en-US" dirty="0"/>
          </a:p>
        </p:txBody>
      </p:sp>
    </p:spTree>
    <p:extLst>
      <p:ext uri="{BB962C8B-B14F-4D97-AF65-F5344CB8AC3E}">
        <p14:creationId xmlns:p14="http://schemas.microsoft.com/office/powerpoint/2010/main" val="35587213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66800" y="1256142"/>
            <a:ext cx="18059400" cy="2131737"/>
          </a:xfrm>
          <a:prstGeom prst="rect">
            <a:avLst/>
          </a:prstGeom>
        </p:spPr>
        <p:txBody>
          <a:bodyPr wrap="square" lIns="0" tIns="0" rIns="0" bIns="0" rtlCol="0" anchor="t">
            <a:spAutoFit/>
          </a:bodyPr>
          <a:lstStyle/>
          <a:p>
            <a:pPr marL="1196903" lvl="2" indent="-398968">
              <a:lnSpc>
                <a:spcPts val="3359"/>
              </a:lnSpc>
              <a:spcBef>
                <a:spcPct val="0"/>
              </a:spcBef>
            </a:pPr>
            <a:r>
              <a:rPr lang="en-US" sz="22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      </a:t>
            </a:r>
            <a:r>
              <a:rPr lang="en-US" sz="20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Random Forest is a powerful ensemble-based classification algorithm that builds multiple decision trees during training and combines their outputs to produce a more accurate and robust prediction. Instead of relying on a single model, it uses a technique called bootstrap aggregation (bagging), where each tree is trained on a randomly selected subset of the data along with a random subset of features, promoting diversity among the trees. Each decision tree makes an independent prediction based on learned decision rules, and the final classification is determined through majority voting, which helps reduce overfitting and improves the model’s overall </a:t>
            </a:r>
            <a:r>
              <a:rPr lang="en-US" sz="2000" dirty="0"/>
              <a:t>generalization performance.</a:t>
            </a:r>
            <a:endParaRPr lang="en-US" sz="2000" u="none" strike="noStrike" dirty="0">
              <a:solidFill>
                <a:srgbClr val="DADADA"/>
              </a:solidFill>
              <a:latin typeface="Calistoga"/>
              <a:ea typeface="Calistoga"/>
              <a:cs typeface="Calistoga"/>
              <a:sym typeface="Calistoga"/>
            </a:endParaRPr>
          </a:p>
        </p:txBody>
      </p:sp>
      <p:sp>
        <p:nvSpPr>
          <p:cNvPr id="3" name="TextBox 3"/>
          <p:cNvSpPr txBox="1"/>
          <p:nvPr/>
        </p:nvSpPr>
        <p:spPr>
          <a:xfrm>
            <a:off x="5806023" y="-9525"/>
            <a:ext cx="6675954" cy="923925"/>
          </a:xfrm>
          <a:prstGeom prst="rect">
            <a:avLst/>
          </a:prstGeom>
        </p:spPr>
        <p:txBody>
          <a:bodyPr lIns="0" tIns="0" rIns="0" bIns="0" rtlCol="0" anchor="t">
            <a:spAutoFit/>
          </a:bodyPr>
          <a:lstStyle/>
          <a:p>
            <a:pPr marL="0" lvl="0" indent="0" algn="ctr" defTabSz="685800">
              <a:lnSpc>
                <a:spcPts val="7200"/>
              </a:lnSpc>
              <a:spcBef>
                <a:spcPct val="0"/>
              </a:spcBef>
            </a:pPr>
            <a:r>
              <a:rPr lang="en-US" sz="6000" b="1" dirty="0">
                <a:ln>
                  <a:solidFill>
                    <a:schemeClr val="bg1">
                      <a:lumMod val="75000"/>
                      <a:lumOff val="25000"/>
                      <a:alpha val="10000"/>
                    </a:schemeClr>
                  </a:solidFill>
                </a:ln>
                <a:effectLst>
                  <a:outerShdw blurRad="9525" dist="25400" dir="14640000" algn="tl" rotWithShape="0">
                    <a:schemeClr val="bg1">
                      <a:alpha val="30000"/>
                    </a:schemeClr>
                  </a:outerShdw>
                </a:effectLst>
                <a:latin typeface="+mj-lt"/>
                <a:ea typeface="+mj-ea"/>
                <a:sym typeface="Calistoga"/>
              </a:rPr>
              <a:t>Model Architecture</a:t>
            </a:r>
          </a:p>
        </p:txBody>
      </p:sp>
      <p:sp>
        <p:nvSpPr>
          <p:cNvPr id="4" name="TextBox 4"/>
          <p:cNvSpPr txBox="1"/>
          <p:nvPr/>
        </p:nvSpPr>
        <p:spPr>
          <a:xfrm>
            <a:off x="-685800" y="4305300"/>
            <a:ext cx="18680092" cy="3016595"/>
          </a:xfrm>
          <a:prstGeom prst="rect">
            <a:avLst/>
          </a:prstGeom>
        </p:spPr>
        <p:txBody>
          <a:bodyPr wrap="square" lIns="0" tIns="0" rIns="0" bIns="0" rtlCol="0" anchor="t">
            <a:spAutoFit/>
          </a:bodyPr>
          <a:lstStyle/>
          <a:p>
            <a:pPr marL="1196903" lvl="2" indent="-398968">
              <a:lnSpc>
                <a:spcPts val="3359"/>
              </a:lnSpc>
              <a:spcBef>
                <a:spcPct val="0"/>
              </a:spcBef>
              <a:buFont typeface="Arial" panose="020B0604020202020204" pitchFamily="34" charset="0"/>
              <a:buChar char="•"/>
            </a:pPr>
            <a:r>
              <a:rPr lang="en-US" sz="22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Input Layer: Receives the input features from the dataset, which are used to train multiple decision trees on different subsets of the data. </a:t>
            </a:r>
          </a:p>
          <a:p>
            <a:pPr marL="1196903" lvl="2" indent="-398968">
              <a:lnSpc>
                <a:spcPts val="3359"/>
              </a:lnSpc>
              <a:spcBef>
                <a:spcPct val="0"/>
              </a:spcBef>
              <a:buFont typeface="Arial" panose="020B0604020202020204" pitchFamily="34" charset="0"/>
              <a:buChar char="•"/>
            </a:pPr>
            <a:r>
              <a:rPr lang="en-US" sz="22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Ensemble of Decision Trees: Instead of a single linear model, Random Forest constructs multiple decision trees using randomly sampled data (bagging) and random subsets of features, allowing each tree to learn diverse decision rules. </a:t>
            </a:r>
          </a:p>
          <a:p>
            <a:pPr marL="1196903" lvl="2" indent="-398968">
              <a:lnSpc>
                <a:spcPts val="3359"/>
              </a:lnSpc>
              <a:spcBef>
                <a:spcPct val="0"/>
              </a:spcBef>
              <a:buFont typeface="Arial" panose="020B0604020202020204" pitchFamily="34" charset="0"/>
              <a:buChar char="•"/>
            </a:pPr>
            <a:r>
              <a:rPr lang="en-US" sz="22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Splitting Mechanism: Each tree recursively splits the data based on feature values that best separate the classes, forming a hierarchical structure of decisions. </a:t>
            </a:r>
          </a:p>
          <a:p>
            <a:pPr marL="1196903" lvl="2" indent="-398968">
              <a:lnSpc>
                <a:spcPts val="3359"/>
              </a:lnSpc>
              <a:spcBef>
                <a:spcPct val="0"/>
              </a:spcBef>
              <a:buFont typeface="Arial" panose="020B0604020202020204" pitchFamily="34" charset="0"/>
              <a:buChar char="•"/>
            </a:pPr>
            <a:r>
              <a:rPr lang="en-US" sz="22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rPr>
              <a:t>Output Layer: Each decision tree produces a class prediction, and the final output is determined by majority voting (for classification) or averaging (for regression), resulting in a more accurate and stable prediction. </a:t>
            </a:r>
          </a:p>
        </p:txBody>
      </p:sp>
      <p:sp>
        <p:nvSpPr>
          <p:cNvPr id="5" name="TextBox 5"/>
          <p:cNvSpPr txBox="1"/>
          <p:nvPr/>
        </p:nvSpPr>
        <p:spPr>
          <a:xfrm>
            <a:off x="-152400" y="3314701"/>
            <a:ext cx="7315200" cy="1564531"/>
          </a:xfrm>
          <a:prstGeom prst="rect">
            <a:avLst/>
          </a:prstGeom>
        </p:spPr>
        <p:txBody>
          <a:bodyPr wrap="square" lIns="0" tIns="0" rIns="0" bIns="0" rtlCol="0" anchor="t">
            <a:spAutoFit/>
          </a:bodyPr>
          <a:lstStyle/>
          <a:p>
            <a:pPr algn="ctr" defTabSz="685800">
              <a:lnSpc>
                <a:spcPts val="7200"/>
              </a:lnSpc>
              <a:spcBef>
                <a:spcPct val="0"/>
              </a:spcBef>
            </a:pPr>
            <a:r>
              <a:rPr lang="en-US" sz="5500" b="1" dirty="0">
                <a:ln>
                  <a:solidFill>
                    <a:schemeClr val="bg1">
                      <a:lumMod val="75000"/>
                      <a:lumOff val="25000"/>
                      <a:alpha val="10000"/>
                    </a:schemeClr>
                  </a:solidFill>
                </a:ln>
                <a:effectLst>
                  <a:outerShdw blurRad="9525" dist="25400" dir="14640000" algn="tl" rotWithShape="0">
                    <a:schemeClr val="bg1">
                      <a:alpha val="30000"/>
                    </a:schemeClr>
                  </a:outerShdw>
                </a:effectLst>
                <a:latin typeface="+mj-lt"/>
                <a:ea typeface="+mj-ea"/>
                <a:sym typeface="Calistoga"/>
              </a:rPr>
              <a:t>LAYERS OF GRU:</a:t>
            </a:r>
          </a:p>
          <a:p>
            <a:pPr algn="ctr">
              <a:lnSpc>
                <a:spcPts val="5040"/>
              </a:lnSpc>
              <a:spcBef>
                <a:spcPct val="0"/>
              </a:spcBef>
            </a:pPr>
            <a:endParaRPr lang="en-US" sz="4200" dirty="0">
              <a:solidFill>
                <a:srgbClr val="FFFFFF"/>
              </a:solidFill>
              <a:latin typeface="Calistoga"/>
              <a:ea typeface="Calistoga"/>
              <a:cs typeface="Calistoga"/>
              <a:sym typeface="Calistog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5809833" y="274779"/>
            <a:ext cx="6668334" cy="923925"/>
          </a:xfrm>
          <a:prstGeom prst="rect">
            <a:avLst/>
          </a:prstGeom>
        </p:spPr>
        <p:txBody>
          <a:bodyPr lIns="0" tIns="0" rIns="0" bIns="0" rtlCol="0" anchor="t">
            <a:spAutoFit/>
          </a:bodyPr>
          <a:lstStyle/>
          <a:p>
            <a:pPr algn="ctr" defTabSz="685800">
              <a:lnSpc>
                <a:spcPts val="7200"/>
              </a:lnSpc>
              <a:spcBef>
                <a:spcPct val="0"/>
              </a:spcBef>
            </a:pPr>
            <a:r>
              <a:rPr lang="en-US" sz="6000" b="1" dirty="0">
                <a:ln>
                  <a:solidFill>
                    <a:schemeClr val="bg1">
                      <a:lumMod val="75000"/>
                      <a:lumOff val="25000"/>
                      <a:alpha val="10000"/>
                    </a:schemeClr>
                  </a:solidFill>
                </a:ln>
                <a:effectLst>
                  <a:outerShdw blurRad="9525" dist="25400" dir="14640000" algn="tl" rotWithShape="0">
                    <a:schemeClr val="bg1">
                      <a:alpha val="30000"/>
                    </a:schemeClr>
                  </a:outerShdw>
                </a:effectLst>
                <a:latin typeface="+mj-lt"/>
                <a:ea typeface="+mj-ea"/>
                <a:sym typeface="Calistoga"/>
              </a:rPr>
              <a:t>Model Architecture</a:t>
            </a:r>
          </a:p>
        </p:txBody>
      </p:sp>
      <p:pic>
        <p:nvPicPr>
          <p:cNvPr id="5" name="Picture 4">
            <a:extLst>
              <a:ext uri="{FF2B5EF4-FFF2-40B4-BE49-F238E27FC236}">
                <a16:creationId xmlns:a16="http://schemas.microsoft.com/office/drawing/2014/main" id="{BA150F6E-54F8-5370-4F00-13AA8F74B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224772"/>
            <a:ext cx="17068800" cy="866919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853981" y="1445264"/>
            <a:ext cx="18913381" cy="3452227"/>
          </a:xfrm>
          <a:prstGeom prst="rect">
            <a:avLst/>
          </a:prstGeom>
        </p:spPr>
        <p:txBody>
          <a:bodyPr wrap="square" lIns="0" tIns="0" rIns="0" bIns="0" rtlCol="0" anchor="t">
            <a:spAutoFit/>
          </a:bodyPr>
          <a:lstStyle/>
          <a:p>
            <a:pPr marL="1196903" lvl="2" indent="-398968">
              <a:lnSpc>
                <a:spcPts val="3359"/>
              </a:lnSpc>
              <a:spcBef>
                <a:spcPct val="0"/>
              </a:spcBef>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     In this analysis of classification models, a structured feature set was created from a preprocessed dataset, with a binary target variable designed to differentiate between content types. The data was split into training and testing sets, ensuring class balance to provide an unbiased model evaluation. Three machine learning models—Logistic Regression, Random Forest Classifier, and Gradient Boosting—were trained and assessed using accuracy, precision, recall, F1-score, and AUC-ROC metrics. The results indicated that all models performed exceptionally, highlighting robust patterns within the data that facilitate clear classification. Logistic Regression emerged as the preferred model due to its high performance across all metrics, coupled with lower computational demands and greater ease of interpretation compared to more complex models. This classification approach underscores the efficacy of the chosen features in accurately distinguishing between categories, leading to dependable predictions.</a:t>
            </a:r>
          </a:p>
        </p:txBody>
      </p:sp>
      <p:sp>
        <p:nvSpPr>
          <p:cNvPr id="4" name="TextBox 4"/>
          <p:cNvSpPr txBox="1"/>
          <p:nvPr/>
        </p:nvSpPr>
        <p:spPr>
          <a:xfrm>
            <a:off x="4652183" y="-9525"/>
            <a:ext cx="8418672" cy="1838325"/>
          </a:xfrm>
          <a:prstGeom prst="rect">
            <a:avLst/>
          </a:prstGeom>
        </p:spPr>
        <p:txBody>
          <a:bodyPr lIns="0" tIns="0" rIns="0" bIns="0" rtlCol="0" anchor="t">
            <a:spAutoFit/>
          </a:bodyPr>
          <a:lstStyle/>
          <a:p>
            <a:pPr algn="ctr" defTabSz="685800">
              <a:lnSpc>
                <a:spcPts val="7200"/>
              </a:lnSpc>
              <a:spcBef>
                <a:spcPct val="0"/>
              </a:spcBef>
            </a:pPr>
            <a:r>
              <a:rPr lang="en-US" sz="6000" b="1" dirty="0">
                <a:ln>
                  <a:solidFill>
                    <a:schemeClr val="bg1">
                      <a:lumMod val="75000"/>
                      <a:lumOff val="25000"/>
                      <a:alpha val="10000"/>
                    </a:schemeClr>
                  </a:solidFill>
                </a:ln>
                <a:effectLst>
                  <a:outerShdw blurRad="9525" dist="25400" dir="14640000" algn="tl" rotWithShape="0">
                    <a:schemeClr val="bg1">
                      <a:alpha val="30000"/>
                    </a:schemeClr>
                  </a:outerShdw>
                </a:effectLst>
                <a:latin typeface="+mj-lt"/>
                <a:ea typeface="+mj-ea"/>
                <a:sym typeface="Calistoga"/>
              </a:rPr>
              <a:t>Training and Evaluation</a:t>
            </a:r>
          </a:p>
          <a:p>
            <a:pPr marL="0" lvl="0" indent="0" algn="ctr">
              <a:lnSpc>
                <a:spcPts val="7200"/>
              </a:lnSpc>
              <a:spcBef>
                <a:spcPct val="0"/>
              </a:spcBef>
            </a:pPr>
            <a:endParaRPr lang="en-US" sz="6000" u="none" strike="noStrike" dirty="0">
              <a:solidFill>
                <a:srgbClr val="FFFFFF"/>
              </a:solidFill>
              <a:latin typeface="Calistoga"/>
              <a:ea typeface="Calistoga"/>
              <a:cs typeface="Calistoga"/>
              <a:sym typeface="Calistoga"/>
            </a:endParaRPr>
          </a:p>
        </p:txBody>
      </p:sp>
      <p:pic>
        <p:nvPicPr>
          <p:cNvPr id="6" name="Picture 5">
            <a:extLst>
              <a:ext uri="{FF2B5EF4-FFF2-40B4-BE49-F238E27FC236}">
                <a16:creationId xmlns:a16="http://schemas.microsoft.com/office/drawing/2014/main" id="{673D7AFD-2A55-4E89-F84B-F1B0EA9DE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1800" y="5981700"/>
            <a:ext cx="11811000" cy="2514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704069" y="1175164"/>
            <a:ext cx="16879862" cy="5866146"/>
          </a:xfrm>
          <a:custGeom>
            <a:avLst/>
            <a:gdLst/>
            <a:ahLst/>
            <a:cxnLst/>
            <a:rect l="l" t="t" r="r" b="b"/>
            <a:pathLst>
              <a:path w="16879862" h="5866146">
                <a:moveTo>
                  <a:pt x="0" y="0"/>
                </a:moveTo>
                <a:lnTo>
                  <a:pt x="16879862" y="0"/>
                </a:lnTo>
                <a:lnTo>
                  <a:pt x="16879862" y="5866146"/>
                </a:lnTo>
                <a:lnTo>
                  <a:pt x="0" y="5866146"/>
                </a:lnTo>
                <a:lnTo>
                  <a:pt x="0" y="0"/>
                </a:lnTo>
                <a:close/>
              </a:path>
            </a:pathLst>
          </a:custGeom>
          <a:blipFill>
            <a:blip r:embed="rId3"/>
            <a:stretch>
              <a:fillRect t="-4138" b="-6868"/>
            </a:stretch>
          </a:blipFill>
        </p:spPr>
      </p:sp>
      <p:sp>
        <p:nvSpPr>
          <p:cNvPr id="3" name="TextBox 3"/>
          <p:cNvSpPr txBox="1"/>
          <p:nvPr/>
        </p:nvSpPr>
        <p:spPr>
          <a:xfrm>
            <a:off x="8039814" y="251239"/>
            <a:ext cx="2208371" cy="923925"/>
          </a:xfrm>
          <a:prstGeom prst="rect">
            <a:avLst/>
          </a:prstGeom>
        </p:spPr>
        <p:txBody>
          <a:bodyPr lIns="0" tIns="0" rIns="0" bIns="0" rtlCol="0" anchor="t">
            <a:spAutoFit/>
          </a:bodyPr>
          <a:lstStyle/>
          <a:p>
            <a:pPr algn="ctr" defTabSz="685800">
              <a:lnSpc>
                <a:spcPts val="7200"/>
              </a:lnSpc>
              <a:spcBef>
                <a:spcPct val="0"/>
              </a:spcBef>
            </a:pPr>
            <a:r>
              <a:rPr lang="en-US" sz="6000" b="1" dirty="0">
                <a:ln>
                  <a:solidFill>
                    <a:schemeClr val="bg1">
                      <a:lumMod val="75000"/>
                      <a:lumOff val="25000"/>
                      <a:alpha val="10000"/>
                    </a:schemeClr>
                  </a:solidFill>
                </a:ln>
                <a:effectLst>
                  <a:outerShdw blurRad="9525" dist="25400" dir="14640000" algn="tl" rotWithShape="0">
                    <a:schemeClr val="bg1">
                      <a:alpha val="30000"/>
                    </a:schemeClr>
                  </a:outerShdw>
                </a:effectLst>
                <a:latin typeface="+mj-lt"/>
                <a:ea typeface="+mj-ea"/>
                <a:sym typeface="Calistoga"/>
              </a:rPr>
              <a:t>Result</a:t>
            </a:r>
          </a:p>
        </p:txBody>
      </p:sp>
      <p:sp>
        <p:nvSpPr>
          <p:cNvPr id="4" name="TextBox 4"/>
          <p:cNvSpPr txBox="1"/>
          <p:nvPr/>
        </p:nvSpPr>
        <p:spPr>
          <a:xfrm>
            <a:off x="188321" y="7753350"/>
            <a:ext cx="6745879" cy="2580450"/>
          </a:xfrm>
          <a:prstGeom prst="rect">
            <a:avLst/>
          </a:prstGeom>
        </p:spPr>
        <p:txBody>
          <a:bodyPr wrap="square" lIns="0" tIns="0" rIns="0" bIns="0" rtlCol="0" anchor="t">
            <a:spAutoFit/>
          </a:bodyPr>
          <a:lstStyle/>
          <a:p>
            <a:pPr algn="l">
              <a:lnSpc>
                <a:spcPts val="2879"/>
              </a:lnSpc>
              <a:spcBef>
                <a:spcPct val="0"/>
              </a:spcBef>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Random Forest:</a:t>
            </a:r>
          </a:p>
          <a:p>
            <a:pPr marL="518160" lvl="1" indent="-259080" algn="l">
              <a:lnSpc>
                <a:spcPts val="2879"/>
              </a:lnSpc>
              <a:spcBef>
                <a:spcPct val="0"/>
              </a:spcBef>
              <a:buFont typeface="Arial"/>
              <a:buChar char="•"/>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Achieves perfect classification with zero misclassifications.</a:t>
            </a:r>
          </a:p>
          <a:p>
            <a:pPr marL="518160" lvl="1" indent="-259080" algn="l">
              <a:lnSpc>
                <a:spcPts val="2879"/>
              </a:lnSpc>
              <a:spcBef>
                <a:spcPct val="0"/>
              </a:spcBef>
              <a:buFont typeface="Arial"/>
              <a:buChar char="•"/>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Correctly predicts all TV shows and movies, indicating strong linear separability of the data.</a:t>
            </a:r>
          </a:p>
          <a:p>
            <a:pPr algn="l">
              <a:lnSpc>
                <a:spcPts val="2879"/>
              </a:lnSpc>
              <a:spcBef>
                <a:spcPct val="0"/>
              </a:spcBef>
            </a:pPr>
            <a:endParaRPr lang="en-US" sz="2400" dirty="0">
              <a:solidFill>
                <a:srgbClr val="FFFFFF"/>
              </a:solidFill>
              <a:latin typeface="Calistoga"/>
              <a:ea typeface="Calistoga"/>
              <a:cs typeface="Calistoga"/>
              <a:sym typeface="Calistoga"/>
            </a:endParaRPr>
          </a:p>
        </p:txBody>
      </p:sp>
      <p:sp>
        <p:nvSpPr>
          <p:cNvPr id="5" name="TextBox 5"/>
          <p:cNvSpPr txBox="1"/>
          <p:nvPr/>
        </p:nvSpPr>
        <p:spPr>
          <a:xfrm>
            <a:off x="6585224" y="7753350"/>
            <a:ext cx="5929814" cy="2211503"/>
          </a:xfrm>
          <a:prstGeom prst="rect">
            <a:avLst/>
          </a:prstGeom>
        </p:spPr>
        <p:txBody>
          <a:bodyPr lIns="0" tIns="0" rIns="0" bIns="0" rtlCol="0" anchor="t">
            <a:spAutoFit/>
          </a:bodyPr>
          <a:lstStyle/>
          <a:p>
            <a:pPr>
              <a:lnSpc>
                <a:spcPts val="2879"/>
              </a:lnSpc>
              <a:spcBef>
                <a:spcPct val="0"/>
              </a:spcBef>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Logistic Regression:</a:t>
            </a:r>
          </a:p>
          <a:p>
            <a:pPr marL="518160" lvl="1" indent="-259080">
              <a:lnSpc>
                <a:spcPts val="2879"/>
              </a:lnSpc>
              <a:spcBef>
                <a:spcPct val="0"/>
              </a:spcBef>
              <a:buFont typeface="Arial"/>
              <a:buChar char="•"/>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Performs almost perfectly, with only one misclassification observed.</a:t>
            </a:r>
          </a:p>
          <a:p>
            <a:pPr marL="518160" lvl="1" indent="-259080">
              <a:lnSpc>
                <a:spcPts val="2879"/>
              </a:lnSpc>
              <a:spcBef>
                <a:spcPct val="0"/>
              </a:spcBef>
              <a:buFont typeface="Arial"/>
              <a:buChar char="•"/>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Demonstrates high robustness but slightly less precision compared to the other models.</a:t>
            </a:r>
          </a:p>
        </p:txBody>
      </p:sp>
      <p:sp>
        <p:nvSpPr>
          <p:cNvPr id="6" name="TextBox 6"/>
          <p:cNvSpPr txBox="1"/>
          <p:nvPr/>
        </p:nvSpPr>
        <p:spPr>
          <a:xfrm>
            <a:off x="12302158" y="7753350"/>
            <a:ext cx="5985842" cy="2208553"/>
          </a:xfrm>
          <a:prstGeom prst="rect">
            <a:avLst/>
          </a:prstGeom>
        </p:spPr>
        <p:txBody>
          <a:bodyPr lIns="0" tIns="0" rIns="0" bIns="0" rtlCol="0" anchor="t">
            <a:spAutoFit/>
          </a:bodyPr>
          <a:lstStyle/>
          <a:p>
            <a:pPr>
              <a:lnSpc>
                <a:spcPts val="2879"/>
              </a:lnSpc>
              <a:spcBef>
                <a:spcPct val="0"/>
              </a:spcBef>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Gradient Boosting:</a:t>
            </a:r>
          </a:p>
          <a:p>
            <a:pPr marL="518160" lvl="1" indent="-259080">
              <a:lnSpc>
                <a:spcPts val="2879"/>
              </a:lnSpc>
              <a:spcBef>
                <a:spcPct val="0"/>
              </a:spcBef>
              <a:buFont typeface="Arial"/>
              <a:buChar char="•"/>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Also achieves perfect classification with no errors.</a:t>
            </a:r>
          </a:p>
          <a:p>
            <a:pPr marL="518160" lvl="1" indent="-259080">
              <a:lnSpc>
                <a:spcPts val="2879"/>
              </a:lnSpc>
              <a:spcBef>
                <a:spcPct val="0"/>
              </a:spcBef>
              <a:buFont typeface="Arial"/>
              <a:buChar char="•"/>
            </a:pPr>
            <a:r>
              <a:rPr lang="en-US" sz="2400" b="1" dirty="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sym typeface="Calistoga"/>
              </a:rPr>
              <a:t>Effectively separates the classes, suggesting optimal margin-based decision boundaries.</a:t>
            </a:r>
          </a:p>
        </p:txBody>
      </p:sp>
      <p:pic>
        <p:nvPicPr>
          <p:cNvPr id="8" name="Picture 7">
            <a:extLst>
              <a:ext uri="{FF2B5EF4-FFF2-40B4-BE49-F238E27FC236}">
                <a16:creationId xmlns:a16="http://schemas.microsoft.com/office/drawing/2014/main" id="{3754EFD4-8F51-CAA5-B6AF-F4313BC038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4068" y="1175164"/>
            <a:ext cx="16879861" cy="5866146"/>
          </a:xfrm>
          <a:prstGeom prst="rect">
            <a:avLst/>
          </a:prstGeom>
        </p:spPr>
      </p:pic>
      <p:pic>
        <p:nvPicPr>
          <p:cNvPr id="12" name="Picture 11">
            <a:extLst>
              <a:ext uri="{FF2B5EF4-FFF2-40B4-BE49-F238E27FC236}">
                <a16:creationId xmlns:a16="http://schemas.microsoft.com/office/drawing/2014/main" id="{DEB69905-6F62-24FA-787F-EC762207761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7512" y="1172233"/>
            <a:ext cx="16856417" cy="586614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Interface          </a:t>
            </a:r>
          </a:p>
        </p:txBody>
      </p:sp>
      <p:sp>
        <p:nvSpPr>
          <p:cNvPr id="3" name="Content Placeholder 2"/>
          <p:cNvSpPr>
            <a:spLocks noGrp="1"/>
          </p:cNvSpPr>
          <p:nvPr>
            <p:ph idx="1"/>
          </p:nvPr>
        </p:nvSpPr>
        <p:spPr/>
        <p:txBody>
          <a:bodyPr/>
          <a:lstStyle/>
          <a:p>
            <a:r>
              <a:rPr lang="en-US" dirty="0"/>
              <a:t>Built using </a:t>
            </a:r>
            <a:r>
              <a:rPr lang="en-US" b="1" dirty="0" err="1"/>
              <a:t>Streamlit</a:t>
            </a:r>
            <a:r>
              <a:rPr lang="en-US" b="1" dirty="0"/>
              <a:t> dashboard</a:t>
            </a:r>
            <a:r>
              <a:rPr lang="en-US" dirty="0"/>
              <a:t> </a:t>
            </a:r>
          </a:p>
          <a:p>
            <a:r>
              <a:rPr lang="en-US" dirty="0"/>
              <a:t>Interactive filters: Year, Genre, Country, Rating </a:t>
            </a:r>
          </a:p>
          <a:p>
            <a:r>
              <a:rPr lang="en-US" dirty="0"/>
              <a:t>Includes charts, maps, and data explorer </a:t>
            </a:r>
          </a:p>
          <a:p>
            <a:r>
              <a:rPr lang="en-US" dirty="0"/>
              <a:t>👉 </a:t>
            </a:r>
            <a:r>
              <a:rPr lang="en-US" b="1" dirty="0"/>
              <a:t>Key Point:</a:t>
            </a:r>
            <a:r>
              <a:rPr lang="en-US" dirty="0"/>
              <a:t> User-friendly and interactive system</a:t>
            </a:r>
          </a:p>
          <a:p>
            <a:pPr marL="55350" indent="0">
              <a:buNone/>
            </a:pPr>
            <a:endParaRPr lang="en-US" dirty="0"/>
          </a:p>
        </p:txBody>
      </p:sp>
      <p:pic>
        <p:nvPicPr>
          <p:cNvPr id="5" name="Picture 4" descr="A screenshot of a computer&#10;&#10;AI-generated content may be incorrect.">
            <a:extLst>
              <a:ext uri="{FF2B5EF4-FFF2-40B4-BE49-F238E27FC236}">
                <a16:creationId xmlns:a16="http://schemas.microsoft.com/office/drawing/2014/main" id="{50D223D2-BCE9-5E39-21A7-91BAF64473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0400" y="5295900"/>
            <a:ext cx="12343338" cy="4800600"/>
          </a:xfrm>
          <a:prstGeom prst="rect">
            <a:avLst/>
          </a:prstGeom>
        </p:spPr>
      </p:pic>
    </p:spTree>
    <p:extLst>
      <p:ext uri="{BB962C8B-B14F-4D97-AF65-F5344CB8AC3E}">
        <p14:creationId xmlns:p14="http://schemas.microsoft.com/office/powerpoint/2010/main" val="23936465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a:t>
            </a:r>
          </a:p>
        </p:txBody>
      </p:sp>
      <p:sp>
        <p:nvSpPr>
          <p:cNvPr id="3" name="Content Placeholder 2"/>
          <p:cNvSpPr>
            <a:spLocks noGrp="1"/>
          </p:cNvSpPr>
          <p:nvPr>
            <p:ph idx="1"/>
          </p:nvPr>
        </p:nvSpPr>
        <p:spPr/>
        <p:txBody>
          <a:bodyPr/>
          <a:lstStyle/>
          <a:p>
            <a:r>
              <a:rPr lang="en-US" dirty="0"/>
              <a:t>Missing values in dataset (director, cast, country) </a:t>
            </a:r>
          </a:p>
          <a:p>
            <a:r>
              <a:rPr lang="en-US" dirty="0"/>
              <a:t>Data imbalance between movies and TV shows </a:t>
            </a:r>
          </a:p>
          <a:p>
            <a:r>
              <a:rPr lang="en-US" dirty="0"/>
              <a:t>Feature selection and model tuning </a:t>
            </a:r>
          </a:p>
          <a:p>
            <a:r>
              <a:rPr lang="en-US" dirty="0"/>
              <a:t>Handling categorical data </a:t>
            </a:r>
          </a:p>
          <a:p>
            <a:r>
              <a:rPr lang="en-US" dirty="0"/>
              <a:t>👉 </a:t>
            </a:r>
            <a:r>
              <a:rPr lang="en-US" b="1" dirty="0"/>
              <a:t>Key Point:</a:t>
            </a:r>
            <a:r>
              <a:rPr lang="en-US" dirty="0"/>
              <a:t> Real-world data problems handled</a:t>
            </a:r>
          </a:p>
          <a:p>
            <a:pPr marL="55350" indent="0">
              <a:buNone/>
            </a:pPr>
            <a:endParaRPr lang="en-US" dirty="0"/>
          </a:p>
        </p:txBody>
      </p:sp>
    </p:spTree>
    <p:extLst>
      <p:ext uri="{BB962C8B-B14F-4D97-AF65-F5344CB8AC3E}">
        <p14:creationId xmlns:p14="http://schemas.microsoft.com/office/powerpoint/2010/main" val="19615481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Future Scope</a:t>
            </a:r>
          </a:p>
        </p:txBody>
      </p:sp>
      <p:sp>
        <p:nvSpPr>
          <p:cNvPr id="3" name="Content Placeholder 2"/>
          <p:cNvSpPr>
            <a:spLocks noGrp="1"/>
          </p:cNvSpPr>
          <p:nvPr>
            <p:ph idx="1"/>
          </p:nvPr>
        </p:nvSpPr>
        <p:spPr>
          <a:xfrm>
            <a:off x="1524000" y="2370075"/>
            <a:ext cx="15530643" cy="6088127"/>
          </a:xfrm>
        </p:spPr>
        <p:txBody>
          <a:bodyPr/>
          <a:lstStyle/>
          <a:p>
            <a:r>
              <a:rPr lang="en-US" dirty="0"/>
              <a:t>Use real-time Netflix data </a:t>
            </a:r>
          </a:p>
          <a:p>
            <a:r>
              <a:rPr lang="en-US" dirty="0"/>
              <a:t>Improve recommendation system using AI </a:t>
            </a:r>
          </a:p>
          <a:p>
            <a:r>
              <a:rPr lang="en-US" dirty="0"/>
              <a:t>Deploy on cloud platform </a:t>
            </a:r>
          </a:p>
          <a:p>
            <a:r>
              <a:rPr lang="en-US" dirty="0"/>
              <a:t>Add more advanced ML models </a:t>
            </a:r>
          </a:p>
          <a:p>
            <a:r>
              <a:rPr lang="en-US" dirty="0"/>
              <a:t>👉 </a:t>
            </a:r>
            <a:r>
              <a:rPr lang="en-US" b="1" dirty="0"/>
              <a:t>Key Point:</a:t>
            </a:r>
            <a:r>
              <a:rPr lang="en-US" dirty="0"/>
              <a:t> Can be expanded further</a:t>
            </a:r>
          </a:p>
          <a:p>
            <a:pPr marL="55350" indent="0">
              <a:buNone/>
            </a:pPr>
            <a:endParaRPr lang="en-US" dirty="0"/>
          </a:p>
        </p:txBody>
      </p:sp>
    </p:spTree>
    <p:extLst>
      <p:ext uri="{BB962C8B-B14F-4D97-AF65-F5344CB8AC3E}">
        <p14:creationId xmlns:p14="http://schemas.microsoft.com/office/powerpoint/2010/main" val="39835386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r>
              <a:rPr lang="en-US" dirty="0"/>
              <a:t>Netflix focuses on global and diverse content </a:t>
            </a:r>
          </a:p>
          <a:p>
            <a:r>
              <a:rPr lang="en-US" dirty="0"/>
              <a:t>Drama and international genres dominate </a:t>
            </a:r>
          </a:p>
          <a:p>
            <a:r>
              <a:rPr lang="en-US" dirty="0"/>
              <a:t>Machine learning improves prediction accuracy </a:t>
            </a:r>
          </a:p>
          <a:p>
            <a:r>
              <a:rPr lang="en-US" dirty="0"/>
              <a:t>Dashboard helps in understanding insights easily </a:t>
            </a:r>
          </a:p>
          <a:p>
            <a:pPr marL="55350" indent="0">
              <a:buNone/>
            </a:pPr>
            <a:r>
              <a:rPr lang="en-US" dirty="0"/>
              <a:t/>
            </a:r>
            <a:br>
              <a:rPr lang="en-US" dirty="0"/>
            </a:br>
            <a:r>
              <a:rPr lang="en-US" dirty="0"/>
              <a:t>“This project demonstrates how data analytics and machine learning can be used to understand Netflix’s content strategy effectively.”</a:t>
            </a:r>
          </a:p>
          <a:p>
            <a:pPr marL="55350" indent="0">
              <a:buNone/>
            </a:pPr>
            <a:endParaRPr lang="en-US" dirty="0"/>
          </a:p>
        </p:txBody>
      </p:sp>
    </p:spTree>
    <p:extLst>
      <p:ext uri="{BB962C8B-B14F-4D97-AF65-F5344CB8AC3E}">
        <p14:creationId xmlns:p14="http://schemas.microsoft.com/office/powerpoint/2010/main" val="200355010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TM04033929[[fn=Slate]]</Template>
  <TotalTime>638</TotalTime>
  <Words>1473</Words>
  <Application>Microsoft Office PowerPoint</Application>
  <PresentationFormat>Custom</PresentationFormat>
  <Paragraphs>190</Paragraphs>
  <Slides>21</Slides>
  <Notes>4</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Wingdings 2</vt:lpstr>
      <vt:lpstr>Play</vt:lpstr>
      <vt:lpstr>Calisto MT</vt:lpstr>
      <vt:lpstr>Play Bold</vt:lpstr>
      <vt:lpstr>Arial</vt:lpstr>
      <vt:lpstr>Aptos</vt:lpstr>
      <vt:lpstr>Wingdings</vt:lpstr>
      <vt:lpstr>Calistoga</vt:lpstr>
      <vt:lpstr>Poppins</vt:lpstr>
      <vt:lpstr>Trebuchet MS</vt:lpstr>
      <vt:lpstr>Slate</vt:lpstr>
      <vt:lpstr>PowerPoint Presentation</vt:lpstr>
      <vt:lpstr>PowerPoint Presentation</vt:lpstr>
      <vt:lpstr>PowerPoint Presentation</vt:lpstr>
      <vt:lpstr>PowerPoint Presentation</vt:lpstr>
      <vt:lpstr>PowerPoint Presentation</vt:lpstr>
      <vt:lpstr>Exploratory Data Analysis</vt:lpstr>
      <vt:lpstr>Exploratory Data Analysis</vt:lpstr>
      <vt:lpstr>VISUALIZATION</vt:lpstr>
      <vt:lpstr>PowerPoint Presentation</vt:lpstr>
      <vt:lpstr>DATA PREPROCESSING</vt:lpstr>
      <vt:lpstr>DATA PREPROCESSING</vt:lpstr>
      <vt:lpstr>FEATURE EXTRACTION</vt:lpstr>
      <vt:lpstr>FEATURE EXTRACTION</vt:lpstr>
      <vt:lpstr>PowerPoint Presentation</vt:lpstr>
      <vt:lpstr>PowerPoint Presentation</vt:lpstr>
      <vt:lpstr>PowerPoint Presentation</vt:lpstr>
      <vt:lpstr>PowerPoint Presentation</vt:lpstr>
      <vt:lpstr>User Interface          </vt:lpstr>
      <vt:lpstr>Challenges</vt:lpstr>
      <vt:lpstr>Future Scope</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Writing Standout Resumes</dc:title>
  <dc:creator>Vrushabh Tokse</dc:creator>
  <cp:lastModifiedBy>tejesh yewale</cp:lastModifiedBy>
  <cp:revision>16</cp:revision>
  <dcterms:created xsi:type="dcterms:W3CDTF">2006-08-16T00:00:00Z</dcterms:created>
  <dcterms:modified xsi:type="dcterms:W3CDTF">2026-04-01T13:12:44Z</dcterms:modified>
  <dc:identifier>DAHFcHCRQ10</dc:identifier>
</cp:coreProperties>
</file>